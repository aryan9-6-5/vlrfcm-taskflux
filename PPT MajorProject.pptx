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changesInfos/changesInfo1.xml" ContentType="application/vnd.ms-powerpoint.changesinfo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17"/>
  </p:notesMasterIdLst>
  <p:handoutMasterIdLst>
    <p:handoutMasterId r:id="rId18"/>
  </p:handoutMasterIdLst>
  <p:sldIdLst>
    <p:sldId id="256" r:id="rId2"/>
    <p:sldId id="259" r:id="rId3"/>
    <p:sldId id="327" r:id="rId4"/>
    <p:sldId id="333" r:id="rId5"/>
    <p:sldId id="328" r:id="rId6"/>
    <p:sldId id="329" r:id="rId7"/>
    <p:sldId id="334" r:id="rId8"/>
    <p:sldId id="339" r:id="rId9"/>
    <p:sldId id="330" r:id="rId10"/>
    <p:sldId id="335" r:id="rId11"/>
    <p:sldId id="336" r:id="rId12"/>
    <p:sldId id="337" r:id="rId13"/>
    <p:sldId id="338" r:id="rId14"/>
    <p:sldId id="331" r:id="rId15"/>
    <p:sldId id="326" r:id="rId16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32767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10"/>
    <p:restoredTop sz="94678"/>
  </p:normalViewPr>
  <p:slideViewPr>
    <p:cSldViewPr>
      <p:cViewPr varScale="1">
        <p:scale>
          <a:sx n="88" d="100"/>
          <a:sy n="88" d="100"/>
        </p:scale>
        <p:origin x="-1282" y="-8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thik raj" userId="427e99a693a26011" providerId="LiveId" clId="{F03FF954-165A-4EB7-AA39-4C406A121671}"/>
    <pc:docChg chg="undo custSel modSld">
      <pc:chgData name="rathik raj" userId="427e99a693a26011" providerId="LiveId" clId="{F03FF954-165A-4EB7-AA39-4C406A121671}" dt="2026-07-14T10:21:03.056" v="581" actId="20577"/>
      <pc:docMkLst>
        <pc:docMk/>
      </pc:docMkLst>
      <pc:sldChg chg="addSp delSp modSp mod">
        <pc:chgData name="rathik raj" userId="427e99a693a26011" providerId="LiveId" clId="{F03FF954-165A-4EB7-AA39-4C406A121671}" dt="2026-07-14T10:18:14.448" v="543" actId="20577"/>
        <pc:sldMkLst>
          <pc:docMk/>
          <pc:sldMk cId="0" sldId="256"/>
        </pc:sldMkLst>
        <pc:spChg chg="del">
          <ac:chgData name="rathik raj" userId="427e99a693a26011" providerId="LiveId" clId="{F03FF954-165A-4EB7-AA39-4C406A121671}" dt="2026-07-14T10:16:44.852" v="499" actId="478"/>
          <ac:spMkLst>
            <pc:docMk/>
            <pc:sldMk cId="0" sldId="256"/>
            <ac:spMk id="4" creationId="{9BE4DE83-3011-CED4-9FE3-E94DF84507F3}"/>
          </ac:spMkLst>
        </pc:spChg>
        <pc:spChg chg="add del mod">
          <ac:chgData name="rathik raj" userId="427e99a693a26011" providerId="LiveId" clId="{F03FF954-165A-4EB7-AA39-4C406A121671}" dt="2026-07-14T10:17:30.080" v="506" actId="2085"/>
          <ac:spMkLst>
            <pc:docMk/>
            <pc:sldMk cId="0" sldId="256"/>
            <ac:spMk id="7" creationId="{2CD76FAC-2659-E3C8-F5FF-5277E8ACD478}"/>
          </ac:spMkLst>
        </pc:spChg>
        <pc:spChg chg="add del mod">
          <ac:chgData name="rathik raj" userId="427e99a693a26011" providerId="LiveId" clId="{F03FF954-165A-4EB7-AA39-4C406A121671}" dt="2026-07-14T10:17:48.432" v="509" actId="2085"/>
          <ac:spMkLst>
            <pc:docMk/>
            <pc:sldMk cId="0" sldId="256"/>
            <ac:spMk id="9" creationId="{81D74FB6-115D-87F5-7741-2010334675C7}"/>
          </ac:spMkLst>
        </pc:spChg>
        <pc:graphicFrameChg chg="modGraphic">
          <ac:chgData name="rathik raj" userId="427e99a693a26011" providerId="LiveId" clId="{F03FF954-165A-4EB7-AA39-4C406A121671}" dt="2026-07-14T10:18:14.448" v="543" actId="20577"/>
          <ac:graphicFrameMkLst>
            <pc:docMk/>
            <pc:sldMk cId="0" sldId="256"/>
            <ac:graphicFrameMk id="12" creationId="{4B858B43-3EB5-52D8-0C3E-5DFB0633C93B}"/>
          </ac:graphicFrameMkLst>
        </pc:graphicFrameChg>
      </pc:sldChg>
      <pc:sldChg chg="modSp mod">
        <pc:chgData name="rathik raj" userId="427e99a693a26011" providerId="LiveId" clId="{F03FF954-165A-4EB7-AA39-4C406A121671}" dt="2026-07-14T10:18:49.089" v="547" actId="2085"/>
        <pc:sldMkLst>
          <pc:docMk/>
          <pc:sldMk cId="0" sldId="259"/>
        </pc:sldMkLst>
        <pc:spChg chg="mod">
          <ac:chgData name="rathik raj" userId="427e99a693a26011" providerId="LiveId" clId="{F03FF954-165A-4EB7-AA39-4C406A121671}" dt="2026-07-14T10:18:49.089" v="547" actId="2085"/>
          <ac:spMkLst>
            <pc:docMk/>
            <pc:sldMk cId="0" sldId="259"/>
            <ac:spMk id="2" creationId="{57052B95-9325-F1D8-331B-C878F64EE0BA}"/>
          </ac:spMkLst>
        </pc:spChg>
        <pc:spChg chg="mod">
          <ac:chgData name="rathik raj" userId="427e99a693a26011" providerId="LiveId" clId="{F03FF954-165A-4EB7-AA39-4C406A121671}" dt="2026-07-14T10:18:48.481" v="546" actId="2085"/>
          <ac:spMkLst>
            <pc:docMk/>
            <pc:sldMk cId="0" sldId="259"/>
            <ac:spMk id="3" creationId="{5ED4925D-7C70-EFD6-157C-3EFEE75D1825}"/>
          </ac:spMkLst>
        </pc:spChg>
      </pc:sldChg>
      <pc:sldChg chg="modSp mod">
        <pc:chgData name="rathik raj" userId="427e99a693a26011" providerId="LiveId" clId="{F03FF954-165A-4EB7-AA39-4C406A121671}" dt="2026-07-14T10:12:20.279" v="478"/>
        <pc:sldMkLst>
          <pc:docMk/>
          <pc:sldMk cId="0" sldId="327"/>
        </pc:sldMkLst>
        <pc:spChg chg="mod">
          <ac:chgData name="rathik raj" userId="427e99a693a26011" providerId="LiveId" clId="{F03FF954-165A-4EB7-AA39-4C406A121671}" dt="2026-07-14T10:12:20.279" v="478"/>
          <ac:spMkLst>
            <pc:docMk/>
            <pc:sldMk cId="0" sldId="327"/>
            <ac:spMk id="3" creationId="{E4955CB3-CE6C-6BDC-1479-DFE50C996B31}"/>
          </ac:spMkLst>
        </pc:spChg>
      </pc:sldChg>
      <pc:sldChg chg="modSp mod">
        <pc:chgData name="rathik raj" userId="427e99a693a26011" providerId="LiveId" clId="{F03FF954-165A-4EB7-AA39-4C406A121671}" dt="2026-07-14T10:15:30.870" v="498" actId="113"/>
        <pc:sldMkLst>
          <pc:docMk/>
          <pc:sldMk cId="0" sldId="328"/>
        </pc:sldMkLst>
        <pc:spChg chg="mod">
          <ac:chgData name="rathik raj" userId="427e99a693a26011" providerId="LiveId" clId="{F03FF954-165A-4EB7-AA39-4C406A121671}" dt="2026-07-14T10:15:30.870" v="498" actId="113"/>
          <ac:spMkLst>
            <pc:docMk/>
            <pc:sldMk cId="0" sldId="328"/>
            <ac:spMk id="7" creationId="{687C2A8C-AEFF-46FD-AB85-3D9E8EF58267}"/>
          </ac:spMkLst>
        </pc:spChg>
      </pc:sldChg>
      <pc:sldChg chg="modSp mod">
        <pc:chgData name="rathik raj" userId="427e99a693a26011" providerId="LiveId" clId="{F03FF954-165A-4EB7-AA39-4C406A121671}" dt="2026-07-14T10:21:03.056" v="581" actId="20577"/>
        <pc:sldMkLst>
          <pc:docMk/>
          <pc:sldMk cId="0" sldId="330"/>
        </pc:sldMkLst>
        <pc:spChg chg="mod">
          <ac:chgData name="rathik raj" userId="427e99a693a26011" providerId="LiveId" clId="{F03FF954-165A-4EB7-AA39-4C406A121671}" dt="2026-07-14T10:21:03.056" v="581" actId="20577"/>
          <ac:spMkLst>
            <pc:docMk/>
            <pc:sldMk cId="0" sldId="330"/>
            <ac:spMk id="7" creationId="{74D7847B-1CA9-6790-65A6-828CFB8327B7}"/>
          </ac:spMkLst>
        </pc:spChg>
      </pc:sldChg>
      <pc:sldChg chg="delSp modSp mod">
        <pc:chgData name="rathik raj" userId="427e99a693a26011" providerId="LiveId" clId="{F03FF954-165A-4EB7-AA39-4C406A121671}" dt="2026-07-14T09:58:10.190" v="261"/>
        <pc:sldMkLst>
          <pc:docMk/>
          <pc:sldMk cId="0" sldId="331"/>
        </pc:sldMkLst>
        <pc:spChg chg="mod">
          <ac:chgData name="rathik raj" userId="427e99a693a26011" providerId="LiveId" clId="{F03FF954-165A-4EB7-AA39-4C406A121671}" dt="2026-07-14T09:58:10.190" v="261"/>
          <ac:spMkLst>
            <pc:docMk/>
            <pc:sldMk cId="0" sldId="331"/>
            <ac:spMk id="3" creationId="{99ADADFF-64F2-DEE6-B50B-34126AF7412A}"/>
          </ac:spMkLst>
        </pc:spChg>
        <pc:spChg chg="del mod">
          <ac:chgData name="rathik raj" userId="427e99a693a26011" providerId="LiveId" clId="{F03FF954-165A-4EB7-AA39-4C406A121671}" dt="2026-07-14T09:56:25.932" v="237" actId="478"/>
          <ac:spMkLst>
            <pc:docMk/>
            <pc:sldMk cId="0" sldId="331"/>
            <ac:spMk id="9" creationId="{D8AB0A3C-A323-C187-98A3-D88D0E673648}"/>
          </ac:spMkLst>
        </pc:spChg>
      </pc:sldChg>
      <pc:sldChg chg="modSp mod">
        <pc:chgData name="rathik raj" userId="427e99a693a26011" providerId="LiveId" clId="{F03FF954-165A-4EB7-AA39-4C406A121671}" dt="2026-07-14T10:14:47.186" v="494" actId="20577"/>
        <pc:sldMkLst>
          <pc:docMk/>
          <pc:sldMk cId="0" sldId="333"/>
        </pc:sldMkLst>
        <pc:spChg chg="mod">
          <ac:chgData name="rathik raj" userId="427e99a693a26011" providerId="LiveId" clId="{F03FF954-165A-4EB7-AA39-4C406A121671}" dt="2026-07-14T10:14:47.186" v="494" actId="20577"/>
          <ac:spMkLst>
            <pc:docMk/>
            <pc:sldMk cId="0" sldId="333"/>
            <ac:spMk id="3" creationId="{64FA3182-FA99-7B9D-B96E-A9E072C3A2C1}"/>
          </ac:spMkLst>
        </pc:spChg>
      </pc:sldChg>
      <pc:sldChg chg="delSp modSp mod">
        <pc:chgData name="rathik raj" userId="427e99a693a26011" providerId="LiveId" clId="{F03FF954-165A-4EB7-AA39-4C406A121671}" dt="2026-07-14T10:10:21.065" v="471"/>
        <pc:sldMkLst>
          <pc:docMk/>
          <pc:sldMk cId="0" sldId="334"/>
        </pc:sldMkLst>
        <pc:spChg chg="mod">
          <ac:chgData name="rathik raj" userId="427e99a693a26011" providerId="LiveId" clId="{F03FF954-165A-4EB7-AA39-4C406A121671}" dt="2026-07-14T10:10:21.065" v="471"/>
          <ac:spMkLst>
            <pc:docMk/>
            <pc:sldMk cId="0" sldId="334"/>
            <ac:spMk id="3" creationId="{8527FB4F-5906-D5C2-C9EF-616F2218CCFB}"/>
          </ac:spMkLst>
        </pc:spChg>
        <pc:spChg chg="del mod">
          <ac:chgData name="rathik raj" userId="427e99a693a26011" providerId="LiveId" clId="{F03FF954-165A-4EB7-AA39-4C406A121671}" dt="2026-07-14T10:08:50.734" v="447" actId="478"/>
          <ac:spMkLst>
            <pc:docMk/>
            <pc:sldMk cId="0" sldId="334"/>
            <ac:spMk id="7" creationId="{782A0C74-FFE7-84F6-F417-ED843F03F358}"/>
          </ac:spMkLst>
        </pc:spChg>
      </pc:sldChg>
      <pc:sldChg chg="addSp delSp modSp mod">
        <pc:chgData name="rathik raj" userId="427e99a693a26011" providerId="LiveId" clId="{F03FF954-165A-4EB7-AA39-4C406A121671}" dt="2026-07-14T09:38:14.550" v="26" actId="14100"/>
        <pc:sldMkLst>
          <pc:docMk/>
          <pc:sldMk cId="884099337" sldId="335"/>
        </pc:sldMkLst>
        <pc:spChg chg="del mod">
          <ac:chgData name="rathik raj" userId="427e99a693a26011" providerId="LiveId" clId="{F03FF954-165A-4EB7-AA39-4C406A121671}" dt="2026-07-14T09:34:28.497" v="2" actId="3680"/>
          <ac:spMkLst>
            <pc:docMk/>
            <pc:sldMk cId="884099337" sldId="335"/>
            <ac:spMk id="3" creationId="{E813F8EA-8821-CB05-824F-21FBFAE953CB}"/>
          </ac:spMkLst>
        </pc:spChg>
        <pc:graphicFrameChg chg="add mod ord modGraphic">
          <ac:chgData name="rathik raj" userId="427e99a693a26011" providerId="LiveId" clId="{F03FF954-165A-4EB7-AA39-4C406A121671}" dt="2026-07-14T09:38:14.550" v="26" actId="14100"/>
          <ac:graphicFrameMkLst>
            <pc:docMk/>
            <pc:sldMk cId="884099337" sldId="335"/>
            <ac:graphicFrameMk id="2" creationId="{8EA006C2-2DA1-4434-ADD5-69151F952DA7}"/>
          </ac:graphicFrameMkLst>
        </pc:graphicFrameChg>
      </pc:sldChg>
      <pc:sldChg chg="addSp modSp mod">
        <pc:chgData name="rathik raj" userId="427e99a693a26011" providerId="LiveId" clId="{F03FF954-165A-4EB7-AA39-4C406A121671}" dt="2026-07-14T09:50:26.188" v="137" actId="255"/>
        <pc:sldMkLst>
          <pc:docMk/>
          <pc:sldMk cId="1696918495" sldId="336"/>
        </pc:sldMkLst>
        <pc:graphicFrameChg chg="mod modGraphic">
          <ac:chgData name="rathik raj" userId="427e99a693a26011" providerId="LiveId" clId="{F03FF954-165A-4EB7-AA39-4C406A121671}" dt="2026-07-14T09:50:26.188" v="137" actId="255"/>
          <ac:graphicFrameMkLst>
            <pc:docMk/>
            <pc:sldMk cId="1696918495" sldId="336"/>
            <ac:graphicFrameMk id="20" creationId="{736AA482-9574-6CD0-CC65-AD42B80C1525}"/>
          </ac:graphicFrameMkLst>
        </pc:graphicFrameChg>
        <pc:graphicFrameChg chg="add mod">
          <ac:chgData name="rathik raj" userId="427e99a693a26011" providerId="LiveId" clId="{F03FF954-165A-4EB7-AA39-4C406A121671}" dt="2026-07-14T09:41:33.426" v="87"/>
          <ac:graphicFrameMkLst>
            <pc:docMk/>
            <pc:sldMk cId="1696918495" sldId="336"/>
            <ac:graphicFrameMk id="21" creationId="{6D870913-E896-53E1-6D7A-124D5A9404D5}"/>
          </ac:graphicFrameMkLst>
        </pc:graphicFrameChg>
      </pc:sldChg>
      <pc:sldChg chg="modSp mod">
        <pc:chgData name="rathik raj" userId="427e99a693a26011" providerId="LiveId" clId="{F03FF954-165A-4EB7-AA39-4C406A121671}" dt="2026-07-14T09:54:14.336" v="217" actId="14100"/>
        <pc:sldMkLst>
          <pc:docMk/>
          <pc:sldMk cId="1536246375" sldId="337"/>
        </pc:sldMkLst>
        <pc:graphicFrameChg chg="mod modGraphic">
          <ac:chgData name="rathik raj" userId="427e99a693a26011" providerId="LiveId" clId="{F03FF954-165A-4EB7-AA39-4C406A121671}" dt="2026-07-14T09:54:14.336" v="217" actId="14100"/>
          <ac:graphicFrameMkLst>
            <pc:docMk/>
            <pc:sldMk cId="1536246375" sldId="337"/>
            <ac:graphicFrameMk id="7" creationId="{8A3D638B-755D-58B5-8A2F-ED830DFC05A2}"/>
          </ac:graphicFrameMkLst>
        </pc:graphicFrameChg>
      </pc:sldChg>
      <pc:sldChg chg="addSp delSp modSp mod">
        <pc:chgData name="rathik raj" userId="427e99a693a26011" providerId="LiveId" clId="{F03FF954-165A-4EB7-AA39-4C406A121671}" dt="2026-07-14T09:55:37.669" v="224" actId="14100"/>
        <pc:sldMkLst>
          <pc:docMk/>
          <pc:sldMk cId="1263141427" sldId="338"/>
        </pc:sldMkLst>
        <pc:spChg chg="del">
          <ac:chgData name="rathik raj" userId="427e99a693a26011" providerId="LiveId" clId="{F03FF954-165A-4EB7-AA39-4C406A121671}" dt="2026-07-14T09:55:02.629" v="218" actId="22"/>
          <ac:spMkLst>
            <pc:docMk/>
            <pc:sldMk cId="1263141427" sldId="338"/>
            <ac:spMk id="3" creationId="{7F164174-A2AF-69E7-CBA1-DA4465EBD59E}"/>
          </ac:spMkLst>
        </pc:spChg>
        <pc:picChg chg="add mod ord">
          <ac:chgData name="rathik raj" userId="427e99a693a26011" providerId="LiveId" clId="{F03FF954-165A-4EB7-AA39-4C406A121671}" dt="2026-07-14T09:55:37.669" v="224" actId="14100"/>
          <ac:picMkLst>
            <pc:docMk/>
            <pc:sldMk cId="1263141427" sldId="338"/>
            <ac:picMk id="7" creationId="{FEF8EC7B-7E21-0D2C-6091-C6AF98071B63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="" xmlns:a16="http://schemas.microsoft.com/office/drawing/2014/main" id="{B95BFC36-EA66-7180-3388-B28F0967181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DBD68852-FB2D-91BD-79A2-FF95BB3CF94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612210ED-B1CF-3444-BC33-973D25619692}" type="datetimeFigureOut">
              <a:rPr lang="en-US"/>
              <a:pPr>
                <a:defRPr/>
              </a:pPr>
              <a:t>7/21/2026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EE46C350-EBAE-27B8-0D87-37E7B4B70B2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03960692-CEBE-1262-9D9F-24BDBD7F320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168926C7-D4C0-E442-95D5-D4F6878ACC1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="" xmlns:p14="http://schemas.microsoft.com/office/powerpoint/2010/main" val="102904707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="" xmlns:a16="http://schemas.microsoft.com/office/drawing/2014/main" id="{CF0E5141-E897-7B17-0435-9EE1C655178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86E2C623-2CFC-90B0-D873-DAF92AFD46AD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6A40FE05-DF68-EE48-9BD6-EB950DB9B0A8}" type="datetimeFigureOut">
              <a:rPr lang="en-US"/>
              <a:pPr>
                <a:defRPr/>
              </a:pPr>
              <a:t>7/21/2026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="" xmlns:a16="http://schemas.microsoft.com/office/drawing/2014/main" id="{C570E0A6-C30E-7BE6-196F-EE157AC2D4C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="" xmlns:a16="http://schemas.microsoft.com/office/drawing/2014/main" id="{8089CA34-110F-A702-1AFB-E4E98DEEB0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62646F09-0D1F-5ADF-7A11-E11BE5BF6FD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12B021D6-2CF7-5E42-4C84-752739A199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AEB7530B-FADF-3841-BF0D-A65637F84C0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="" xmlns:p14="http://schemas.microsoft.com/office/powerpoint/2010/main" val="128886516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Image Placeholder 1">
            <a:extLst>
              <a:ext uri="{FF2B5EF4-FFF2-40B4-BE49-F238E27FC236}">
                <a16:creationId xmlns="" xmlns:a16="http://schemas.microsoft.com/office/drawing/2014/main" id="{06C102AD-BDA6-5F87-A82C-B76E68892BE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Notes Placeholder 2">
            <a:extLst>
              <a:ext uri="{FF2B5EF4-FFF2-40B4-BE49-F238E27FC236}">
                <a16:creationId xmlns="" xmlns:a16="http://schemas.microsoft.com/office/drawing/2014/main" id="{1AB9C41F-2A7C-1BE9-E50F-45E27DB0A00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dirty="0"/>
          </a:p>
        </p:txBody>
      </p:sp>
      <p:sp>
        <p:nvSpPr>
          <p:cNvPr id="6148" name="Slide Number Placeholder 3">
            <a:extLst>
              <a:ext uri="{FF2B5EF4-FFF2-40B4-BE49-F238E27FC236}">
                <a16:creationId xmlns="" xmlns:a16="http://schemas.microsoft.com/office/drawing/2014/main" id="{B2FE4A57-7985-E37E-BB83-413FF0673D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4626E999-8E2A-1946-A298-804C79F3AD9B}" type="slidenum">
              <a:rPr lang="en-US" altLang="en-US" smtClean="0">
                <a:cs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</a:t>
            </a:fld>
            <a:endParaRPr lang="en-US" altLang="en-US" dirty="0"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1044894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8EE691CD-6BF4-D210-8CB5-2121B63BE0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88CC985-5CB4-4C7E-A8D6-1D3071CBF74E}" type="datetime1">
              <a:rPr lang="en-US" smtClean="0"/>
              <a:pPr>
                <a:defRPr/>
              </a:pPr>
              <a:t>7/21/2026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11A20980-F764-95CD-3B08-6FFD1E2CA8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CSM PROJECT WORK PHASE-1 REVIEW-1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44C6C6F0-A50E-F8BA-3A0C-08A3D92357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A5DD7C-245B-454D-BBB8-61B54529664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="" xmlns:p14="http://schemas.microsoft.com/office/powerpoint/2010/main" val="21678494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1B8A76D4-13A1-8081-2CF1-2256C5D6C1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685E5D-3540-4C1F-A5B9-7E4E356DF5CB}" type="datetime1">
              <a:rPr lang="en-US" smtClean="0"/>
              <a:pPr>
                <a:defRPr/>
              </a:pPr>
              <a:t>7/21/2026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375591C3-74A5-55C4-DDB6-77EB66AC7D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CSM PROJECT WORK PHASE-1 REVIEW-1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4238367D-80DA-B0EF-BC57-3CF9A8176E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696073-0439-0442-AC0F-3387FBE4863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="" xmlns:p14="http://schemas.microsoft.com/office/powerpoint/2010/main" val="13644058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F7373129-BD5C-0162-8D80-29091257EE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1802EB5-FC62-4A56-A562-29F7D06E787E}" type="datetime1">
              <a:rPr lang="en-US" smtClean="0"/>
              <a:pPr>
                <a:defRPr/>
              </a:pPr>
              <a:t>7/21/2026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1DB09F39-C9D1-3855-7CE9-9D34C759DC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CSM PROJECT WORK PHASE-1 REVIEW-1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92B2D539-F2BC-568F-E582-5DD9ABD8D7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F64754A-C814-C347-830D-F0FDDA2AE72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="" xmlns:p14="http://schemas.microsoft.com/office/powerpoint/2010/main" val="42045149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3">
            <a:extLst>
              <a:ext uri="{FF2B5EF4-FFF2-40B4-BE49-F238E27FC236}">
                <a16:creationId xmlns="" xmlns:a16="http://schemas.microsoft.com/office/drawing/2014/main" id="{AEF0821E-AA4F-5209-4DD8-2DD63B35B3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7FAF02E-4EE8-4952-8BCB-945D88CE6C0D}" type="datetime1">
              <a:rPr lang="en-US" smtClean="0"/>
              <a:pPr>
                <a:defRPr/>
              </a:pPr>
              <a:t>7/21/2026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="" xmlns:a16="http://schemas.microsoft.com/office/drawing/2014/main" id="{2E873C8F-8390-F6F5-3C2E-207B4D5FBA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CSM PROJECT WORK PHASE-1 REVIEW-1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="" xmlns:a16="http://schemas.microsoft.com/office/drawing/2014/main" id="{8FD23E06-BF9C-4442-3D4C-BFAF4ED1A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E983558-648C-4647-929A-D401D85615A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="" xmlns:p14="http://schemas.microsoft.com/office/powerpoint/2010/main" val="28806257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3">
            <a:extLst>
              <a:ext uri="{FF2B5EF4-FFF2-40B4-BE49-F238E27FC236}">
                <a16:creationId xmlns="" xmlns:a16="http://schemas.microsoft.com/office/drawing/2014/main" id="{4486CB62-BC15-73F4-FDCE-759EB8B8B2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B1B69F-9CE7-4CA0-9BBE-4BC6F7E283BC}" type="datetime1">
              <a:rPr lang="en-US" smtClean="0"/>
              <a:pPr>
                <a:defRPr/>
              </a:pPr>
              <a:t>7/21/2026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="" xmlns:a16="http://schemas.microsoft.com/office/drawing/2014/main" id="{B71C3ADF-22CC-422F-ECF4-7123ABB34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CSM PROJECT WORK PHASE-1 REVIEW-1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="" xmlns:a16="http://schemas.microsoft.com/office/drawing/2014/main" id="{90AD01CB-D38F-C9F1-72D1-C23A029D1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F18FF40-D1C3-454C-97EE-D1AEBADCD4C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="" xmlns:p14="http://schemas.microsoft.com/office/powerpoint/2010/main" val="4476243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3">
            <a:extLst>
              <a:ext uri="{FF2B5EF4-FFF2-40B4-BE49-F238E27FC236}">
                <a16:creationId xmlns="" xmlns:a16="http://schemas.microsoft.com/office/drawing/2014/main" id="{0559A7E6-9F57-8659-F8D4-F77F37D1C8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4C96D0-409F-4DE3-A936-CA04CFB07E1D}" type="datetime1">
              <a:rPr lang="en-US" smtClean="0"/>
              <a:pPr>
                <a:defRPr/>
              </a:pPr>
              <a:t>7/21/2026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="" xmlns:a16="http://schemas.microsoft.com/office/drawing/2014/main" id="{CCB3BDA8-3E2A-BA50-A0A2-6D40FEB66A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CSM PROJECT WORK PHASE-1 REVIEW-1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="" xmlns:a16="http://schemas.microsoft.com/office/drawing/2014/main" id="{CAAAF0DC-B618-501D-3BCE-D336F8209A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F922116-F8A8-A244-9026-EC4C3B96A0B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="" xmlns:p14="http://schemas.microsoft.com/office/powerpoint/2010/main" val="7133525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="" xmlns:a16="http://schemas.microsoft.com/office/drawing/2014/main" id="{C42E14E2-CEC5-DEE2-F84B-725D5DC8CE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DEEB12-449C-443B-B1B8-0D8014732737}" type="datetime1">
              <a:rPr lang="en-US" smtClean="0"/>
              <a:pPr>
                <a:defRPr/>
              </a:pPr>
              <a:t>7/21/2026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="" xmlns:a16="http://schemas.microsoft.com/office/drawing/2014/main" id="{D68303D8-3A82-8790-655A-6792E5B09C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CSM PROJECT WORK PHASE-1 REVIEW-1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="" xmlns:a16="http://schemas.microsoft.com/office/drawing/2014/main" id="{F3AD85AB-D76C-D626-F2A0-3215763C90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3986CB4-0795-EF46-9C01-0365489928F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="" xmlns:p14="http://schemas.microsoft.com/office/powerpoint/2010/main" val="31967000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="" xmlns:a16="http://schemas.microsoft.com/office/drawing/2014/main" id="{7645856D-94C1-0299-7B48-DA2D039929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8B3FE06-B5C7-4388-8263-82AB50210DA7}" type="datetime1">
              <a:rPr lang="en-US" smtClean="0"/>
              <a:pPr>
                <a:defRPr/>
              </a:pPr>
              <a:t>7/21/2026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="" xmlns:a16="http://schemas.microsoft.com/office/drawing/2014/main" id="{B07D1EE3-0297-B083-A12E-A41D2F072B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CSM PROJECT WORK PHASE-1 REVIEW-1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="" xmlns:a16="http://schemas.microsoft.com/office/drawing/2014/main" id="{0F55E169-255B-622D-47D8-1637B83206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62C36DF-6C11-FF46-914C-2A5CEA1D13F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="" xmlns:p14="http://schemas.microsoft.com/office/powerpoint/2010/main" val="8711041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rtlCol="0">
            <a:normAutofit/>
          </a:bodyPr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en-IN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="" xmlns:a16="http://schemas.microsoft.com/office/drawing/2014/main" id="{0ADD483F-76AB-B4EE-8B9E-FE724C27E3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80F8E5C-A785-4CC6-A78C-6F3A56DF7F55}" type="datetime1">
              <a:rPr lang="en-US" smtClean="0"/>
              <a:pPr>
                <a:defRPr/>
              </a:pPr>
              <a:t>7/21/2026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="" xmlns:a16="http://schemas.microsoft.com/office/drawing/2014/main" id="{2784574D-B53F-EAC1-6F22-7715B8D60E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CSM PROJECT WORK PHASE-1 REVIEW-1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="" xmlns:a16="http://schemas.microsoft.com/office/drawing/2014/main" id="{34356C5A-277C-ECEC-5A3F-AA9FA4473D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EB9BC72-568A-CF40-9380-7AC683B4E9F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="" xmlns:p14="http://schemas.microsoft.com/office/powerpoint/2010/main" val="3483217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2A7F858E-DE34-6241-9786-881791BAA4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B648B0E-AA5C-4F67-8F40-5CA235019CD6}" type="datetime1">
              <a:rPr lang="en-US" smtClean="0"/>
              <a:pPr>
                <a:defRPr/>
              </a:pPr>
              <a:t>7/21/2026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BB30335-8D32-6112-DC6D-2749734C4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CSM PROJECT WORK PHASE-1 REVIEW-1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9324447E-0150-1505-FB9A-EDCD99E1EC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8AC9A59-4DA6-9048-85E2-5E94805EA4E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="" xmlns:p14="http://schemas.microsoft.com/office/powerpoint/2010/main" val="13577531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C06A8350-2E8E-9833-5EF2-DC377DCE66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03B434A-3922-4DB5-A088-8AD23A6B8F9B}" type="datetime1">
              <a:rPr lang="en-US" smtClean="0"/>
              <a:pPr>
                <a:defRPr/>
              </a:pPr>
              <a:t>7/21/2026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6867444E-8D6B-3942-DDA2-899FDA5E80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CSM PROJECT WORK PHASE-1 REVIEW-1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AFDA0E36-FA89-89B6-67CD-CD3A15AD98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F8CC7D-DBF4-BC43-B794-63258C44871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="" xmlns:p14="http://schemas.microsoft.com/office/powerpoint/2010/main" val="12120210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="" xmlns:a16="http://schemas.microsoft.com/office/drawing/2014/main" id="{A8526579-EDA6-5822-23FE-0752613D7C6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  <a:endParaRPr lang="en-IN" altLang="en-US"/>
          </a:p>
        </p:txBody>
      </p:sp>
      <p:sp>
        <p:nvSpPr>
          <p:cNvPr id="1027" name="Text Placeholder 2">
            <a:extLst>
              <a:ext uri="{FF2B5EF4-FFF2-40B4-BE49-F238E27FC236}">
                <a16:creationId xmlns="" xmlns:a16="http://schemas.microsoft.com/office/drawing/2014/main" id="{D70D7EDE-9F0B-D18C-C3D3-E2B7E7F22C9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  <a:endParaRPr lang="en-I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B8018941-12D7-19DE-2EA4-3686A0899F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9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B593A9D1-BF63-4B5C-A346-5A6E7B98FF2A}" type="datetime1">
              <a:rPr lang="en-US" smtClean="0"/>
              <a:pPr>
                <a:defRPr/>
              </a:pPr>
              <a:t>7/21/2026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2B018A78-05C1-DEBC-62CD-C7915C6A93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9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US"/>
              <a:t>DEPARTMENT OF CSM PROJECT WORK PHASE-1 REVIEW-1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10D97254-9997-D1C6-37AC-E50E9D414F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9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E8672C8F-734D-9C42-B8A2-07C063D17BF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dt="0"/>
  <p:txStyles>
    <p:titleStyle>
      <a:lvl1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  <a:lvl2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2pPr>
      <a:lvl3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3pPr>
      <a:lvl4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4pPr>
      <a:lvl5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5pPr>
      <a:lvl6pPr marL="4572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6pPr>
      <a:lvl7pPr marL="9144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7pPr>
      <a:lvl8pPr marL="13716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8pPr>
      <a:lvl9pPr marL="18288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171450" indent="-171450" algn="l" defTabSz="685800" rtl="0" eaLnBrk="0" fontAlgn="base" hangingPunct="0">
        <a:lnSpc>
          <a:spcPct val="90000"/>
        </a:lnSpc>
        <a:spcBef>
          <a:spcPts val="750"/>
        </a:spcBef>
        <a:spcAft>
          <a:spcPct val="0"/>
        </a:spcAft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32D7E6D-6E0E-F616-7A42-43C31B571F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909651"/>
            <a:ext cx="7315200" cy="838200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900" b="1" dirty="0">
                <a:latin typeface="Bahamas" panose="020B0800000000000000" pitchFamily="34" charset="0"/>
              </a:rPr>
              <a:t>   </a:t>
            </a:r>
            <a:br>
              <a:rPr lang="en-US" sz="2900" b="1" dirty="0">
                <a:latin typeface="Bahamas" panose="020B0800000000000000" pitchFamily="34" charset="0"/>
              </a:rPr>
            </a:br>
            <a:r>
              <a:rPr lang="en-US" sz="2400" b="1" dirty="0">
                <a:solidFill>
                  <a:srgbClr val="C00000"/>
                </a:solidFill>
                <a:latin typeface="Bahamas" panose="020B0800000000000000" pitchFamily="34" charset="0"/>
              </a:rPr>
              <a:t>VARDHAMAN COLLEGE OF ENGINEERING, HYDERABAD</a:t>
            </a:r>
            <a:r>
              <a:rPr lang="en-US" sz="2900" b="1" dirty="0">
                <a:latin typeface="Bahamas" panose="020B0800000000000000" pitchFamily="34" charset="0"/>
              </a:rPr>
              <a:t/>
            </a:r>
            <a:br>
              <a:rPr lang="en-US" sz="2900" b="1" dirty="0">
                <a:latin typeface="Bahamas" panose="020B0800000000000000" pitchFamily="34" charset="0"/>
              </a:rPr>
            </a:br>
            <a:r>
              <a:rPr lang="en-US" sz="2400" b="1" dirty="0"/>
              <a:t>Autonomous institute affiliated to JNTUH </a:t>
            </a:r>
            <a:r>
              <a:rPr lang="en-US" sz="2400" dirty="0"/>
              <a:t/>
            </a:r>
            <a:br>
              <a:rPr lang="en-US" sz="2400" dirty="0"/>
            </a:br>
            <a:r>
              <a:rPr lang="en-US" sz="2400" b="1" dirty="0">
                <a:solidFill>
                  <a:srgbClr val="FF0000"/>
                </a:solidFill>
              </a:rPr>
              <a:t>DEPARTMENT OF CSE(AI&amp;ML)</a:t>
            </a:r>
            <a:br>
              <a:rPr lang="en-US" sz="2400" b="1" dirty="0">
                <a:solidFill>
                  <a:srgbClr val="FF0000"/>
                </a:solidFill>
              </a:rPr>
            </a:br>
            <a:r>
              <a:rPr lang="en-US" sz="2400" b="1" dirty="0">
                <a:solidFill>
                  <a:srgbClr val="FF0000"/>
                </a:solidFill>
              </a:rPr>
              <a:t>IV-Year Major Project Abstract Level Review</a:t>
            </a:r>
            <a:endParaRPr lang="en-US" sz="3600" b="1" dirty="0"/>
          </a:p>
        </p:txBody>
      </p:sp>
      <p:sp>
        <p:nvSpPr>
          <p:cNvPr id="7" name="Subtitle 2">
            <a:extLst>
              <a:ext uri="{FF2B5EF4-FFF2-40B4-BE49-F238E27FC236}">
                <a16:creationId xmlns="" xmlns:a16="http://schemas.microsoft.com/office/drawing/2014/main" id="{2CD76FAC-2659-E3C8-F5FF-5277E8ACD478}"/>
              </a:ext>
            </a:extLst>
          </p:cNvPr>
          <p:cNvSpPr txBox="1">
            <a:spLocks/>
          </p:cNvSpPr>
          <p:nvPr/>
        </p:nvSpPr>
        <p:spPr>
          <a:xfrm>
            <a:off x="228600" y="5181600"/>
            <a:ext cx="8686800" cy="1371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rmAutofit fontScale="77500" lnSpcReduction="20000"/>
          </a:bodyPr>
          <a:lstStyle/>
          <a:p>
            <a:pPr algn="ctr" eaLnBrk="1" fontAlgn="auto" hangingPunct="1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300" b="1" u="sng" dirty="0">
                <a:solidFill>
                  <a:srgbClr val="FF0000"/>
                </a:solidFill>
                <a:latin typeface="Aptos" panose="020B0004020202020204" pitchFamily="34" charset="0"/>
              </a:rPr>
              <a:t>Supervisor</a:t>
            </a:r>
          </a:p>
          <a:p>
            <a:pPr algn="ctr" eaLnBrk="1" fontAlgn="auto" hangingPunct="1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000" b="1" dirty="0">
                <a:solidFill>
                  <a:srgbClr val="002060"/>
                </a:solidFill>
                <a:latin typeface="Aptos" panose="020B0004020202020204" pitchFamily="34" charset="0"/>
              </a:rPr>
              <a:t>Dr. </a:t>
            </a:r>
            <a:r>
              <a:rPr lang="en-US" sz="3000" b="1" dirty="0" err="1">
                <a:solidFill>
                  <a:srgbClr val="002060"/>
                </a:solidFill>
                <a:latin typeface="Aptos" panose="020B0004020202020204" pitchFamily="34" charset="0"/>
              </a:rPr>
              <a:t>Ramachandro</a:t>
            </a:r>
            <a:r>
              <a:rPr lang="en-US" sz="3000" b="1" dirty="0">
                <a:solidFill>
                  <a:srgbClr val="002060"/>
                </a:solidFill>
                <a:latin typeface="Aptos" panose="020B0004020202020204" pitchFamily="34" charset="0"/>
              </a:rPr>
              <a:t> </a:t>
            </a:r>
            <a:r>
              <a:rPr lang="en-US" sz="3000" b="1" dirty="0" err="1">
                <a:solidFill>
                  <a:srgbClr val="002060"/>
                </a:solidFill>
                <a:latin typeface="Aptos" panose="020B0004020202020204" pitchFamily="34" charset="0"/>
              </a:rPr>
              <a:t>Majji</a:t>
            </a:r>
            <a:endParaRPr lang="en-US" sz="3000" b="1" dirty="0">
              <a:solidFill>
                <a:srgbClr val="002060"/>
              </a:solidFill>
              <a:latin typeface="Aptos" panose="020B0004020202020204" pitchFamily="34" charset="0"/>
            </a:endParaRPr>
          </a:p>
          <a:p>
            <a:pPr algn="ctr" eaLnBrk="1" fontAlgn="auto" hangingPunct="1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2200" b="1" dirty="0">
                <a:solidFill>
                  <a:srgbClr val="002060"/>
                </a:solidFill>
                <a:latin typeface="Aptos" panose="020B0004020202020204" pitchFamily="34" charset="0"/>
              </a:rPr>
              <a:t>Associate Professor </a:t>
            </a:r>
          </a:p>
          <a:p>
            <a:pPr algn="ctr" eaLnBrk="1" fontAlgn="auto" hangingPunct="1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2200" b="1" dirty="0">
                <a:solidFill>
                  <a:srgbClr val="002060"/>
                </a:solidFill>
                <a:latin typeface="Aptos" panose="020B0004020202020204" pitchFamily="34" charset="0"/>
              </a:rPr>
              <a:t>Department of Computer Science And Engineering ( AI &amp; ML )</a:t>
            </a:r>
          </a:p>
          <a:p>
            <a:pPr algn="ctr" eaLnBrk="1" fontAlgn="auto" hangingPunct="1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endParaRPr lang="en-US" sz="1600" b="1" dirty="0">
              <a:solidFill>
                <a:srgbClr val="002060"/>
              </a:solidFill>
            </a:endParaRPr>
          </a:p>
          <a:p>
            <a:pPr eaLnBrk="1" fontAlgn="auto" hangingPunct="1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endParaRPr lang="en-US" sz="3200" dirty="0">
              <a:solidFill>
                <a:schemeClr val="tx1">
                  <a:tint val="75000"/>
                </a:schemeClr>
              </a:solidFill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="" xmlns:a16="http://schemas.microsoft.com/office/drawing/2014/main" id="{81D74FB6-115D-87F5-7741-2010334675C7}"/>
              </a:ext>
            </a:extLst>
          </p:cNvPr>
          <p:cNvSpPr txBox="1">
            <a:spLocks/>
          </p:cNvSpPr>
          <p:nvPr/>
        </p:nvSpPr>
        <p:spPr>
          <a:xfrm>
            <a:off x="2514600" y="2967038"/>
            <a:ext cx="3657600" cy="533400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>
            <a:norm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1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BATCH ID : 03 </a:t>
            </a:r>
          </a:p>
        </p:txBody>
      </p:sp>
      <p:sp>
        <p:nvSpPr>
          <p:cNvPr id="10" name="Title 1">
            <a:extLst>
              <a:ext uri="{FF2B5EF4-FFF2-40B4-BE49-F238E27FC236}">
                <a16:creationId xmlns="" xmlns:a16="http://schemas.microsoft.com/office/drawing/2014/main" id="{1B0F03C7-A9F1-F1FB-307D-135A0631D5FF}"/>
              </a:ext>
            </a:extLst>
          </p:cNvPr>
          <p:cNvSpPr txBox="1">
            <a:spLocks/>
          </p:cNvSpPr>
          <p:nvPr/>
        </p:nvSpPr>
        <p:spPr>
          <a:xfrm>
            <a:off x="266700" y="1824077"/>
            <a:ext cx="8610600" cy="60960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anchor="ctr">
            <a:normAutofit fontScale="925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800" b="1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Title: Vision Language Robotics for Collaborative Manufacturing  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="" xmlns:a16="http://schemas.microsoft.com/office/drawing/2014/main" id="{4B858B43-3EB5-52D8-0C3E-5DFB0633C9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4184995441"/>
              </p:ext>
            </p:extLst>
          </p:nvPr>
        </p:nvGraphicFramePr>
        <p:xfrm>
          <a:off x="1285852" y="3429000"/>
          <a:ext cx="6934200" cy="158496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780098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839489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4314613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S. No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Roll. No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Student 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23881A6623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err="1" smtClean="0"/>
                        <a:t>Hanumakonda</a:t>
                      </a:r>
                      <a:r>
                        <a:rPr lang="en-US" sz="2000" b="1" dirty="0" smtClean="0"/>
                        <a:t> </a:t>
                      </a:r>
                      <a:r>
                        <a:rPr lang="en-US" sz="2000" b="1" dirty="0"/>
                        <a:t>Aryan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23881A6639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err="1" smtClean="0"/>
                        <a:t>Kottam</a:t>
                      </a:r>
                      <a:r>
                        <a:rPr lang="en-US" sz="2000" b="1" dirty="0" smtClean="0"/>
                        <a:t> </a:t>
                      </a:r>
                      <a:r>
                        <a:rPr lang="en-US" sz="2000" b="1" dirty="0"/>
                        <a:t>Eshwar Reddy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23881A6654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err="1" smtClean="0"/>
                        <a:t>Sanaboina</a:t>
                      </a:r>
                      <a:r>
                        <a:rPr lang="en-US" sz="2000" b="1" dirty="0" smtClean="0"/>
                        <a:t> </a:t>
                      </a:r>
                      <a:r>
                        <a:rPr lang="en-US" sz="2000" b="1" dirty="0"/>
                        <a:t>Rathik Raj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B805AC0D-A6D9-EB9C-F8AF-085B94A2632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575" y="833451"/>
            <a:ext cx="885825" cy="885825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="" xmlns:a16="http://schemas.microsoft.com/office/drawing/2014/main" id="{11A0C6ED-F6BC-B983-5BE1-164F7931740F}"/>
              </a:ext>
            </a:extLst>
          </p:cNvPr>
          <p:cNvSpPr txBox="1">
            <a:spLocks/>
          </p:cNvSpPr>
          <p:nvPr/>
        </p:nvSpPr>
        <p:spPr>
          <a:xfrm>
            <a:off x="266700" y="2433625"/>
            <a:ext cx="8610600" cy="60960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anchor="ctr"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800" b="1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Domain: </a:t>
            </a:r>
            <a:r>
              <a:rPr lang="en-IN" sz="2800" dirty="0">
                <a:solidFill>
                  <a:schemeClr val="tx1"/>
                </a:solidFill>
              </a:rPr>
              <a:t>Artificial Intelligence | Computer Vision | Robotics | Industry 4.0</a:t>
            </a:r>
            <a:r>
              <a:rPr lang="en-US" sz="2800" b="1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 </a:t>
            </a:r>
          </a:p>
        </p:txBody>
      </p:sp>
      <p:pic>
        <p:nvPicPr>
          <p:cNvPr id="11" name="Picture 10" descr="A logo for a college of engineering&#10;&#10;AI-generated content may be incorrect.">
            <a:extLst>
              <a:ext uri="{FF2B5EF4-FFF2-40B4-BE49-F238E27FC236}">
                <a16:creationId xmlns="" xmlns:a16="http://schemas.microsoft.com/office/drawing/2014/main" id="{6C7552B8-7C99-DFFF-5F7C-150282F9BF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8600" y="680960"/>
            <a:ext cx="1028700" cy="103831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57052B95-9325-F1D8-331B-C878F64EE0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74638"/>
            <a:ext cx="7391400" cy="639762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>
            <a:no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28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Outlines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5ED4925D-7C70-EFD6-157C-3EFEE75D18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066800"/>
            <a:ext cx="8763000" cy="5562600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>
            <a:normAutofit fontScale="92500" lnSpcReduction="10000"/>
          </a:bodyPr>
          <a:lstStyle/>
          <a:p>
            <a:pPr algn="just" eaLnBrk="1" fontAlgn="auto" hangingPunct="1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defRPr/>
            </a:pPr>
            <a:r>
              <a:rPr lang="en-US" sz="2500" b="1" dirty="0">
                <a:solidFill>
                  <a:schemeClr val="accent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500" b="1" dirty="0">
                <a:solidFill>
                  <a:schemeClr val="accent2">
                    <a:lumMod val="75000"/>
                  </a:schemeClr>
                </a:solidFill>
                <a:latin typeface="Aptos" panose="020B0004020202020204" pitchFamily="34" charset="0"/>
                <a:ea typeface="Cambria" panose="02040503050406030204" pitchFamily="18" charset="0"/>
              </a:rPr>
              <a:t>Abstract</a:t>
            </a:r>
          </a:p>
          <a:p>
            <a:pPr algn="just" eaLnBrk="1" fontAlgn="auto" hangingPunct="1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defRPr/>
            </a:pPr>
            <a:r>
              <a:rPr lang="en-US" sz="2500" b="1" dirty="0">
                <a:solidFill>
                  <a:schemeClr val="accent2">
                    <a:lumMod val="75000"/>
                  </a:schemeClr>
                </a:solidFill>
                <a:latin typeface="Aptos" panose="020B0004020202020204" pitchFamily="34" charset="0"/>
                <a:ea typeface="Cambria" panose="02040503050406030204" pitchFamily="18" charset="0"/>
              </a:rPr>
              <a:t>Introduction</a:t>
            </a:r>
          </a:p>
          <a:p>
            <a:pPr algn="just" eaLnBrk="1" fontAlgn="auto" hangingPunct="1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defRPr/>
            </a:pPr>
            <a:r>
              <a:rPr lang="en-US" sz="2500" b="1" dirty="0">
                <a:solidFill>
                  <a:schemeClr val="accent2">
                    <a:lumMod val="75000"/>
                  </a:schemeClr>
                </a:solidFill>
                <a:latin typeface="Aptos" panose="020B0004020202020204" pitchFamily="34" charset="0"/>
                <a:ea typeface="Cambria" panose="02040503050406030204" pitchFamily="18" charset="0"/>
              </a:rPr>
              <a:t>Literature Review  </a:t>
            </a:r>
          </a:p>
          <a:p>
            <a:pPr algn="just" eaLnBrk="1" fontAlgn="auto" hangingPunct="1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defRPr/>
            </a:pPr>
            <a:r>
              <a:rPr lang="en-US" sz="2500" b="1" dirty="0">
                <a:solidFill>
                  <a:schemeClr val="accent2">
                    <a:lumMod val="75000"/>
                  </a:schemeClr>
                </a:solidFill>
                <a:latin typeface="Aptos" panose="020B0004020202020204" pitchFamily="34" charset="0"/>
                <a:ea typeface="Cambria" panose="02040503050406030204" pitchFamily="18" charset="0"/>
              </a:rPr>
              <a:t>Existing System  with Pros and Cons (comparison with existing systems- Table)</a:t>
            </a:r>
          </a:p>
          <a:p>
            <a:pPr algn="just" eaLnBrk="1" fontAlgn="auto" hangingPunct="1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defRPr/>
            </a:pPr>
            <a:r>
              <a:rPr lang="en-US" sz="2500" b="1" dirty="0">
                <a:solidFill>
                  <a:schemeClr val="accent2">
                    <a:lumMod val="75000"/>
                  </a:schemeClr>
                </a:solidFill>
                <a:latin typeface="Aptos" panose="020B0004020202020204" pitchFamily="34" charset="0"/>
                <a:ea typeface="Cambria" panose="02040503050406030204" pitchFamily="18" charset="0"/>
              </a:rPr>
              <a:t>Objectives &amp; Expected Deliverables</a:t>
            </a:r>
          </a:p>
          <a:p>
            <a:pPr algn="just" eaLnBrk="1" fontAlgn="auto" hangingPunct="1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defRPr/>
            </a:pPr>
            <a:r>
              <a:rPr lang="en-US" sz="2500" b="1" dirty="0">
                <a:solidFill>
                  <a:schemeClr val="accent2">
                    <a:lumMod val="75000"/>
                  </a:schemeClr>
                </a:solidFill>
                <a:latin typeface="Aptos" panose="020B0004020202020204" pitchFamily="34" charset="0"/>
                <a:ea typeface="Cambria" panose="02040503050406030204" pitchFamily="18" charset="0"/>
              </a:rPr>
              <a:t>SDG Mapping</a:t>
            </a:r>
          </a:p>
          <a:p>
            <a:pPr algn="just" eaLnBrk="1" fontAlgn="auto" hangingPunct="1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defRPr/>
            </a:pPr>
            <a:r>
              <a:rPr lang="en-US" sz="2500" b="1" dirty="0">
                <a:solidFill>
                  <a:schemeClr val="accent2">
                    <a:lumMod val="75000"/>
                  </a:schemeClr>
                </a:solidFill>
                <a:latin typeface="Aptos" panose="020B0004020202020204" pitchFamily="34" charset="0"/>
                <a:ea typeface="Cambria" panose="02040503050406030204" pitchFamily="18" charset="0"/>
              </a:rPr>
              <a:t>PO Mapping</a:t>
            </a:r>
          </a:p>
          <a:p>
            <a:pPr algn="just" eaLnBrk="1" fontAlgn="auto" hangingPunct="1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defRPr/>
            </a:pPr>
            <a:r>
              <a:rPr lang="en-US" sz="2500" b="1" dirty="0">
                <a:solidFill>
                  <a:schemeClr val="accent2">
                    <a:lumMod val="75000"/>
                  </a:schemeClr>
                </a:solidFill>
                <a:latin typeface="Aptos" panose="020B0004020202020204" pitchFamily="34" charset="0"/>
                <a:ea typeface="Cambria" panose="02040503050406030204" pitchFamily="18" charset="0"/>
              </a:rPr>
              <a:t>PSO Mapping</a:t>
            </a:r>
          </a:p>
          <a:p>
            <a:pPr algn="just" eaLnBrk="1" fontAlgn="auto" hangingPunct="1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defRPr/>
            </a:pPr>
            <a:r>
              <a:rPr lang="en-US" sz="2500" b="1" dirty="0">
                <a:solidFill>
                  <a:schemeClr val="accent2">
                    <a:lumMod val="75000"/>
                  </a:schemeClr>
                </a:solidFill>
                <a:latin typeface="Aptos" panose="020B0004020202020204" pitchFamily="34" charset="0"/>
                <a:ea typeface="Cambria" panose="02040503050406030204" pitchFamily="18" charset="0"/>
              </a:rPr>
              <a:t>Timeline</a:t>
            </a:r>
          </a:p>
          <a:p>
            <a:pPr algn="just" eaLnBrk="1" fontAlgn="auto" hangingPunct="1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defRPr/>
            </a:pPr>
            <a:r>
              <a:rPr lang="en-US" sz="2500" b="1" dirty="0">
                <a:solidFill>
                  <a:schemeClr val="accent2">
                    <a:lumMod val="75000"/>
                  </a:schemeClr>
                </a:solidFill>
                <a:latin typeface="Aptos" panose="020B0004020202020204" pitchFamily="34" charset="0"/>
                <a:ea typeface="Cambria" panose="02040503050406030204" pitchFamily="18" charset="0"/>
              </a:rPr>
              <a:t>References</a:t>
            </a:r>
            <a:endParaRPr lang="en-US" sz="2500" dirty="0">
              <a:solidFill>
                <a:schemeClr val="accent2">
                  <a:lumMod val="75000"/>
                </a:schemeClr>
              </a:solidFill>
              <a:latin typeface="Aptos" panose="020B0004020202020204" pitchFamily="34" charset="0"/>
              <a:ea typeface="Cambria" panose="02040503050406030204" pitchFamily="18" charset="0"/>
            </a:endParaRPr>
          </a:p>
          <a:p>
            <a:pPr algn="just" eaLnBrk="1" fontAlgn="auto" hangingPunct="1">
              <a:spcAft>
                <a:spcPts val="0"/>
              </a:spcAft>
              <a:defRPr/>
            </a:pPr>
            <a:endParaRPr lang="en-US" sz="2500" dirty="0">
              <a:solidFill>
                <a:schemeClr val="accent2">
                  <a:lumMod val="7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just" eaLnBrk="1" fontAlgn="auto" hangingPunct="1">
              <a:spcAft>
                <a:spcPts val="0"/>
              </a:spcAft>
              <a:defRPr/>
            </a:pPr>
            <a:endParaRPr lang="en-US" sz="2500" dirty="0">
              <a:solidFill>
                <a:schemeClr val="accent2">
                  <a:lumMod val="7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just" eaLnBrk="1" fontAlgn="auto" hangingPunct="1">
              <a:spcAft>
                <a:spcPts val="0"/>
              </a:spcAft>
              <a:defRPr/>
            </a:pPr>
            <a:endParaRPr lang="en-US" sz="2800" dirty="0"/>
          </a:p>
          <a:p>
            <a:pPr algn="just" eaLnBrk="1" fontAlgn="auto" hangingPunct="1">
              <a:spcAft>
                <a:spcPts val="0"/>
              </a:spcAft>
              <a:defRPr/>
            </a:pPr>
            <a:endParaRPr lang="en-US" sz="2800" dirty="0"/>
          </a:p>
        </p:txBody>
      </p:sp>
      <p:sp>
        <p:nvSpPr>
          <p:cNvPr id="7" name="Footer Placeholder 6">
            <a:extLst>
              <a:ext uri="{FF2B5EF4-FFF2-40B4-BE49-F238E27FC236}">
                <a16:creationId xmlns="" xmlns:a16="http://schemas.microsoft.com/office/drawing/2014/main" id="{F08B2FEF-75CE-22A6-932D-CAC7F2B41D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3962400" cy="365125"/>
          </a:xfrm>
        </p:spPr>
        <p:txBody>
          <a:bodyPr/>
          <a:lstStyle/>
          <a:p>
            <a:pPr>
              <a:defRPr/>
            </a:pPr>
            <a:r>
              <a:rPr lang="en-US" dirty="0"/>
              <a:t>DEPARTMENT OF CSM PROJECT WORK PHASE-1 REVIEW-1</a:t>
            </a:r>
          </a:p>
        </p:txBody>
      </p:sp>
      <p:sp>
        <p:nvSpPr>
          <p:cNvPr id="5125" name="Slide Number Placeholder 4">
            <a:extLst>
              <a:ext uri="{FF2B5EF4-FFF2-40B4-BE49-F238E27FC236}">
                <a16:creationId xmlns="" xmlns:a16="http://schemas.microsoft.com/office/drawing/2014/main" id="{B94918F9-C828-DF54-3C56-4890A9AAE0A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48794640-E00F-3143-842B-AC5CC465A4F0}" type="slidenum">
              <a:rPr lang="en-US" altLang="en-US" smtClean="0">
                <a:solidFill>
                  <a:srgbClr val="898989"/>
                </a:solidFill>
                <a:cs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</a:t>
            </a:fld>
            <a:endParaRPr lang="en-US" altLang="en-US" dirty="0">
              <a:solidFill>
                <a:srgbClr val="898989"/>
              </a:solidFill>
              <a:cs typeface="Arial" panose="020B0604020202020204" pitchFamily="34" charset="0"/>
            </a:endParaRPr>
          </a:p>
        </p:txBody>
      </p:sp>
      <p:pic>
        <p:nvPicPr>
          <p:cNvPr id="4" name="Picture 3" descr="A logo for a college of engineering&#10;&#10;AI-generated content may be incorrect.">
            <a:extLst>
              <a:ext uri="{FF2B5EF4-FFF2-40B4-BE49-F238E27FC236}">
                <a16:creationId xmlns="" xmlns:a16="http://schemas.microsoft.com/office/drawing/2014/main" id="{22F9A820-0F77-1BB7-B6CE-A50E38DF8A1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8600" y="228509"/>
            <a:ext cx="1028700" cy="838201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C19D397-13EA-11B4-90BF-BA5CF25453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54000"/>
            <a:ext cx="7391400" cy="639763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eaLnBrk="1" fontAlgn="auto" hangingPunct="1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defRPr/>
            </a:pPr>
            <a:r>
              <a:rPr lang="en-US" sz="28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Abstract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E4955CB3-CE6C-6BDC-1479-DFE50C996B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066800"/>
            <a:ext cx="8763000" cy="5562600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>
            <a:normAutofit fontScale="92500" lnSpcReduction="10000"/>
          </a:bodyPr>
          <a:lstStyle/>
          <a:p>
            <a:pPr>
              <a:lnSpc>
                <a:spcPct val="150000"/>
              </a:lnSpc>
            </a:pPr>
            <a:r>
              <a:rPr lang="en-US" sz="1800" dirty="0" smtClean="0"/>
              <a:t>Collaborative robots are expected to work alongside human operators in dynamic production environments where the assembly task itself can change mid-shift.</a:t>
            </a:r>
          </a:p>
          <a:p>
            <a:pPr>
              <a:lnSpc>
                <a:spcPct val="150000"/>
              </a:lnSpc>
            </a:pPr>
            <a:r>
              <a:rPr lang="en-US" sz="1800" dirty="0" smtClean="0"/>
              <a:t>Current Vision-Language-Action approaches generalize well across objects and instructions but operate under a fixed-task assumption, leaving real-time task adaptation unaddressed.</a:t>
            </a:r>
          </a:p>
          <a:p>
            <a:pPr>
              <a:lnSpc>
                <a:spcPct val="150000"/>
              </a:lnSpc>
            </a:pPr>
            <a:r>
              <a:rPr lang="en-US" sz="1800" dirty="0" smtClean="0"/>
              <a:t>This work proposes a framework that lets a collaborative robot reinterpret its own task plan when the operator issues a changeover instruction, rather than requiring manual reconfiguration.</a:t>
            </a:r>
          </a:p>
          <a:p>
            <a:pPr>
              <a:lnSpc>
                <a:spcPct val="150000"/>
              </a:lnSpc>
            </a:pPr>
            <a:r>
              <a:rPr lang="en-US" sz="1800" dirty="0" smtClean="0"/>
              <a:t>The system builds on </a:t>
            </a:r>
            <a:r>
              <a:rPr lang="en-US" sz="1800" dirty="0" err="1" smtClean="0"/>
              <a:t>OpenVLA</a:t>
            </a:r>
            <a:r>
              <a:rPr lang="en-US" sz="1800" dirty="0" smtClean="0"/>
              <a:t> as the manipulation backbone, adding a re-planning layer that converts natural-language changeover commands into an updated subtask sequence.</a:t>
            </a:r>
          </a:p>
          <a:p>
            <a:pPr>
              <a:lnSpc>
                <a:spcPct val="150000"/>
              </a:lnSpc>
            </a:pPr>
            <a:r>
              <a:rPr lang="en-US" sz="1800" dirty="0" smtClean="0"/>
              <a:t>Scene understanding and variant identification are handled through vision-language grounding, keeping the robot aware of which product configuration is currently active.</a:t>
            </a:r>
          </a:p>
          <a:p>
            <a:pPr>
              <a:lnSpc>
                <a:spcPct val="150000"/>
              </a:lnSpc>
            </a:pPr>
            <a:r>
              <a:rPr lang="en-US" sz="1800" dirty="0" smtClean="0"/>
              <a:t>The framework will be evaluated in simulation against existing VLM-based baselines, measuring task success and how quickly the system adapts once a changeover is issued.</a:t>
            </a:r>
            <a:endParaRPr lang="en-US" sz="1800" dirty="0"/>
          </a:p>
        </p:txBody>
      </p:sp>
      <p:sp>
        <p:nvSpPr>
          <p:cNvPr id="7173" name="Slide Number Placeholder 4">
            <a:extLst>
              <a:ext uri="{FF2B5EF4-FFF2-40B4-BE49-F238E27FC236}">
                <a16:creationId xmlns="" xmlns:a16="http://schemas.microsoft.com/office/drawing/2014/main" id="{D048722D-D3DD-12CF-F67D-9D9F60077DF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1FEE5103-700D-C248-920B-26408745AF96}" type="slidenum">
              <a:rPr lang="en-US" altLang="en-US" smtClean="0">
                <a:solidFill>
                  <a:srgbClr val="898989"/>
                </a:solidFill>
                <a:cs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3</a:t>
            </a:fld>
            <a:endParaRPr lang="en-US" altLang="en-US" dirty="0">
              <a:solidFill>
                <a:srgbClr val="898989"/>
              </a:solidFill>
              <a:cs typeface="Arial" panose="020B0604020202020204" pitchFamily="34" charset="0"/>
            </a:endParaRPr>
          </a:p>
        </p:txBody>
      </p:sp>
      <p:pic>
        <p:nvPicPr>
          <p:cNvPr id="4" name="Picture 3" descr="A logo for a college of engineering&#10;&#10;AI-generated content may be incorrect.">
            <a:extLst>
              <a:ext uri="{FF2B5EF4-FFF2-40B4-BE49-F238E27FC236}">
                <a16:creationId xmlns="" xmlns:a16="http://schemas.microsoft.com/office/drawing/2014/main" id="{3B54C06A-AE75-5A1C-8D8A-CBA4AD169A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8600" y="228509"/>
            <a:ext cx="1028700" cy="838201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960AE3DF-9C62-5025-ED7A-4FDCC59B1B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DEPARTMENT OF CSM PROJECT WORK PHASE-1 REVIEW-1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4411216-CDDD-472F-9B83-9C3A2C2F95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74638"/>
            <a:ext cx="7391400" cy="639762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eaLnBrk="1" fontAlgn="auto" hangingPunct="1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defRPr/>
            </a:pPr>
            <a:r>
              <a:rPr lang="en-US" sz="28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64FA3182-FA99-7B9D-B96E-A9E072C3A2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066800"/>
            <a:ext cx="8763000" cy="5562600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>
            <a:normAutofit fontScale="92500" lnSpcReduction="20000"/>
          </a:bodyPr>
          <a:lstStyle/>
          <a:p>
            <a:pPr>
              <a:lnSpc>
                <a:spcPct val="150000"/>
              </a:lnSpc>
            </a:pPr>
            <a:r>
              <a:rPr lang="en-US" sz="1800" dirty="0" smtClean="0"/>
              <a:t>Manufacturing is moving toward greater flexibility, with human operators and robots increasingly expected to work side by side rather than in separated, fixed roles.</a:t>
            </a:r>
          </a:p>
          <a:p>
            <a:pPr>
              <a:lnSpc>
                <a:spcPct val="150000"/>
              </a:lnSpc>
            </a:pPr>
            <a:r>
              <a:rPr lang="en-US" sz="1800" dirty="0" smtClean="0"/>
              <a:t>This shift is part of the broader Industry 5.0 movement, which prioritizes adaptability and human-centered production over rigid automation.</a:t>
            </a:r>
          </a:p>
          <a:p>
            <a:pPr>
              <a:lnSpc>
                <a:spcPct val="150000"/>
              </a:lnSpc>
            </a:pPr>
            <a:r>
              <a:rPr lang="en-US" sz="1800" dirty="0" smtClean="0"/>
              <a:t>Advances in large language models and vision-language models have opened a new path for robots to understand natural instructions and visual context together, rather than relying on hard-coded rules.</a:t>
            </a:r>
          </a:p>
          <a:p>
            <a:pPr>
              <a:lnSpc>
                <a:spcPct val="150000"/>
              </a:lnSpc>
            </a:pPr>
            <a:r>
              <a:rPr lang="en-US" sz="1800" dirty="0" smtClean="0"/>
              <a:t>This has given rise to Vision-Language-Action models, which connect perception, language understanding, and physical action in a single pipeline.</a:t>
            </a:r>
          </a:p>
          <a:p>
            <a:pPr>
              <a:lnSpc>
                <a:spcPct val="150000"/>
              </a:lnSpc>
            </a:pPr>
            <a:r>
              <a:rPr lang="en-US" sz="1800" dirty="0" smtClean="0"/>
              <a:t>Early results in this space have been promising, with robots showing an ability to generalize across new objects, environments, and phrased instructions without task-specific reprogramming.</a:t>
            </a:r>
          </a:p>
          <a:p>
            <a:pPr>
              <a:lnSpc>
                <a:spcPct val="150000"/>
              </a:lnSpc>
            </a:pPr>
            <a:r>
              <a:rPr lang="en-US" sz="1800" dirty="0" smtClean="0"/>
              <a:t>Our project builds on this momentum, applying it specifically to the unresolved problem of task adaptation in collaborative manufacturing settings.</a:t>
            </a:r>
            <a:endParaRPr lang="en-US" sz="1800" dirty="0"/>
          </a:p>
        </p:txBody>
      </p:sp>
      <p:sp>
        <p:nvSpPr>
          <p:cNvPr id="8197" name="Slide Number Placeholder 4">
            <a:extLst>
              <a:ext uri="{FF2B5EF4-FFF2-40B4-BE49-F238E27FC236}">
                <a16:creationId xmlns="" xmlns:a16="http://schemas.microsoft.com/office/drawing/2014/main" id="{74458AFC-CECD-533F-17A3-0F450059917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07DA0EF8-0E81-7D49-BCA1-A831B702A60A}" type="slidenum">
              <a:rPr lang="en-US" altLang="en-US" smtClean="0">
                <a:solidFill>
                  <a:srgbClr val="898989"/>
                </a:solidFill>
                <a:cs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4</a:t>
            </a:fld>
            <a:endParaRPr lang="en-US" altLang="en-US">
              <a:solidFill>
                <a:srgbClr val="898989"/>
              </a:solidFill>
              <a:cs typeface="Arial" panose="020B0604020202020204" pitchFamily="34" charset="0"/>
            </a:endParaRPr>
          </a:p>
        </p:txBody>
      </p:sp>
      <p:pic>
        <p:nvPicPr>
          <p:cNvPr id="5" name="Picture 4" descr="A logo for a college of engineering&#10;&#10;AI-generated content may be incorrect.">
            <a:extLst>
              <a:ext uri="{FF2B5EF4-FFF2-40B4-BE49-F238E27FC236}">
                <a16:creationId xmlns="" xmlns:a16="http://schemas.microsoft.com/office/drawing/2014/main" id="{4E969260-C92C-7C2D-1417-D412288F20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8600" y="228509"/>
            <a:ext cx="1028700" cy="838201"/>
          </a:xfrm>
          <a:prstGeom prst="rect">
            <a:avLst/>
          </a:prstGeom>
        </p:spPr>
      </p:pic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382716F3-528E-B93A-3E89-CE28FAA5BE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DEPARTMENT OF CSM PROJECT WORK PHASE-1 REVIEW-1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D92F55EB-ADDC-2BA0-3088-C611A3A4B1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74638"/>
            <a:ext cx="7391400" cy="639762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eaLnBrk="1" fontAlgn="auto" hangingPunct="1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defRPr/>
            </a:pPr>
            <a:r>
              <a:rPr lang="en-US" sz="28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Existing System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900D3389-F965-4825-E122-5401006801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066800"/>
            <a:ext cx="8763000" cy="5562600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endParaRPr lang="en-US" sz="2800" b="1" dirty="0"/>
          </a:p>
          <a:p>
            <a:pPr eaLnBrk="1" fontAlgn="auto" hangingPunct="1">
              <a:spcAft>
                <a:spcPts val="0"/>
              </a:spcAft>
              <a:defRPr/>
            </a:pPr>
            <a:endParaRPr lang="en-US" sz="2800" dirty="0"/>
          </a:p>
          <a:p>
            <a:pPr eaLnBrk="1" fontAlgn="auto" hangingPunct="1">
              <a:spcAft>
                <a:spcPts val="0"/>
              </a:spcAft>
              <a:defRPr/>
            </a:pPr>
            <a:endParaRPr lang="en-US" sz="2800" dirty="0"/>
          </a:p>
          <a:p>
            <a:pPr eaLnBrk="1" fontAlgn="auto" hangingPunct="1">
              <a:spcAft>
                <a:spcPts val="0"/>
              </a:spcAft>
              <a:defRPr/>
            </a:pPr>
            <a:endParaRPr lang="en-US" sz="2800" dirty="0"/>
          </a:p>
          <a:p>
            <a:pPr eaLnBrk="1" fontAlgn="auto" hangingPunct="1">
              <a:spcAft>
                <a:spcPts val="0"/>
              </a:spcAft>
              <a:defRPr/>
            </a:pPr>
            <a:endParaRPr lang="en-US" sz="2800" dirty="0"/>
          </a:p>
        </p:txBody>
      </p:sp>
      <p:sp>
        <p:nvSpPr>
          <p:cNvPr id="9221" name="Slide Number Placeholder 4">
            <a:extLst>
              <a:ext uri="{FF2B5EF4-FFF2-40B4-BE49-F238E27FC236}">
                <a16:creationId xmlns="" xmlns:a16="http://schemas.microsoft.com/office/drawing/2014/main" id="{77618A5C-D619-991F-E5BE-E77347C73CA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90544C4A-25D2-E542-A79E-1E54EDA09CD4}" type="slidenum">
              <a:rPr lang="en-US" altLang="en-US" smtClean="0">
                <a:solidFill>
                  <a:srgbClr val="898989"/>
                </a:solidFill>
                <a:cs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5</a:t>
            </a:fld>
            <a:endParaRPr lang="en-US" altLang="en-US" dirty="0">
              <a:solidFill>
                <a:srgbClr val="898989"/>
              </a:solidFill>
              <a:cs typeface="Arial" panose="020B0604020202020204" pitchFamily="34" charset="0"/>
            </a:endParaRPr>
          </a:p>
        </p:txBody>
      </p:sp>
      <p:pic>
        <p:nvPicPr>
          <p:cNvPr id="4" name="Picture 3" descr="A logo for a college of engineering&#10;&#10;AI-generated content may be incorrect.">
            <a:extLst>
              <a:ext uri="{FF2B5EF4-FFF2-40B4-BE49-F238E27FC236}">
                <a16:creationId xmlns="" xmlns:a16="http://schemas.microsoft.com/office/drawing/2014/main" id="{8FFF06A1-C9DE-44E8-09B6-28A7E8C0E8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8600" y="228509"/>
            <a:ext cx="1028700" cy="838201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15C4DE47-1931-C634-1C5C-7F4C5798A5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DEPARTMENT OF CSM PROJECT WORK PHASE-1 REVIEW-1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687C2A8C-AEFF-46FD-AB85-3D9E8EF58267}"/>
              </a:ext>
            </a:extLst>
          </p:cNvPr>
          <p:cNvSpPr txBox="1"/>
          <p:nvPr/>
        </p:nvSpPr>
        <p:spPr>
          <a:xfrm>
            <a:off x="429768" y="1278295"/>
            <a:ext cx="8058150" cy="50353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v"/>
            </a:pPr>
            <a:r>
              <a:rPr lang="en-US" b="1" dirty="0" smtClean="0"/>
              <a:t> Traditional industrial robots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Pre-programmed, fixed-sequence robots with no language or visual understanding , reprogrammed manually for every task change.</a:t>
            </a:r>
          </a:p>
          <a:p>
            <a:pPr>
              <a:lnSpc>
                <a:spcPct val="150000"/>
              </a:lnSpc>
              <a:buFont typeface="Wingdings" pitchFamily="2" charset="2"/>
              <a:buChar char="v"/>
            </a:pPr>
            <a:r>
              <a:rPr lang="en-US" b="1" dirty="0" smtClean="0"/>
              <a:t> General-purpose VLA models (RT-2, </a:t>
            </a:r>
            <a:r>
              <a:rPr lang="en-US" b="1" dirty="0" err="1" smtClean="0"/>
              <a:t>OpenVLA</a:t>
            </a:r>
            <a:r>
              <a:rPr lang="en-US" b="1" dirty="0" smtClean="0"/>
              <a:t>)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Use vision-language </a:t>
            </a:r>
            <a:r>
              <a:rPr lang="en-US" dirty="0" err="1" smtClean="0"/>
              <a:t>pretraining</a:t>
            </a:r>
            <a:r>
              <a:rPr lang="en-US" dirty="0" smtClean="0"/>
              <a:t> to generalize manipulation across objects and instructions, but assume one fixed task.</a:t>
            </a:r>
          </a:p>
          <a:p>
            <a:pPr>
              <a:lnSpc>
                <a:spcPct val="150000"/>
              </a:lnSpc>
              <a:buFont typeface="Wingdings" pitchFamily="2" charset="2"/>
              <a:buChar char="v"/>
            </a:pPr>
            <a:r>
              <a:rPr lang="en-US" b="1" dirty="0" smtClean="0"/>
              <a:t> VLM-guided HRC systems (Fan &amp; </a:t>
            </a:r>
            <a:r>
              <a:rPr lang="en-US" b="1" dirty="0" err="1" smtClean="0"/>
              <a:t>Zheng</a:t>
            </a:r>
            <a:r>
              <a:rPr lang="en-US" b="1" dirty="0" smtClean="0"/>
              <a:t>, 2024)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Combine CLIP + LLM to resolve ambiguous human instructions (e.g., "hand me that one") within a fixed assembly task.</a:t>
            </a:r>
          </a:p>
          <a:p>
            <a:pPr>
              <a:lnSpc>
                <a:spcPct val="150000"/>
              </a:lnSpc>
              <a:buFont typeface="Wingdings" pitchFamily="2" charset="2"/>
              <a:buChar char="v"/>
            </a:pPr>
            <a:r>
              <a:rPr lang="en-US" b="1" dirty="0" smtClean="0"/>
              <a:t> Common limitation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All existing systems assume the task itself stays constant — none adapt the plan when the product or task changes mid-shift.</a:t>
            </a:r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C8AB6182-C56B-3090-BB7F-EBBD3C5D62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74638"/>
            <a:ext cx="7391400" cy="639762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eaLnBrk="1" fontAlgn="auto" hangingPunct="1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defRPr/>
            </a:pPr>
            <a:r>
              <a:rPr lang="en-US" sz="28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Pros and Cons of Existing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E5575809-3363-93F1-DF2B-0749B0550F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066800"/>
            <a:ext cx="8763000" cy="5562600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endParaRPr lang="en-US" sz="2800" dirty="0"/>
          </a:p>
          <a:p>
            <a:pPr eaLnBrk="1" fontAlgn="auto" hangingPunct="1">
              <a:spcAft>
                <a:spcPts val="0"/>
              </a:spcAft>
              <a:defRPr/>
            </a:pPr>
            <a:endParaRPr lang="en-US" sz="2800" dirty="0"/>
          </a:p>
          <a:p>
            <a:pPr eaLnBrk="1" fontAlgn="auto" hangingPunct="1">
              <a:spcAft>
                <a:spcPts val="0"/>
              </a:spcAft>
              <a:defRPr/>
            </a:pPr>
            <a:endParaRPr lang="en-US" sz="2800" dirty="0"/>
          </a:p>
          <a:p>
            <a:pPr eaLnBrk="1" fontAlgn="auto" hangingPunct="1">
              <a:spcAft>
                <a:spcPts val="0"/>
              </a:spcAft>
              <a:defRPr/>
            </a:pPr>
            <a:endParaRPr lang="en-US" sz="2800" dirty="0"/>
          </a:p>
          <a:p>
            <a:pPr eaLnBrk="1" fontAlgn="auto" hangingPunct="1">
              <a:spcAft>
                <a:spcPts val="0"/>
              </a:spcAft>
              <a:defRPr/>
            </a:pPr>
            <a:endParaRPr lang="en-US" sz="2800" dirty="0"/>
          </a:p>
        </p:txBody>
      </p:sp>
      <p:sp>
        <p:nvSpPr>
          <p:cNvPr id="10245" name="Slide Number Placeholder 4">
            <a:extLst>
              <a:ext uri="{FF2B5EF4-FFF2-40B4-BE49-F238E27FC236}">
                <a16:creationId xmlns="" xmlns:a16="http://schemas.microsoft.com/office/drawing/2014/main" id="{A3146C62-666C-67C7-63DF-0C645EF2BF5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7164A38F-66D0-3249-BDB1-19728BCC61CC}" type="slidenum">
              <a:rPr lang="en-US" altLang="en-US" smtClean="0">
                <a:solidFill>
                  <a:srgbClr val="898989"/>
                </a:solidFill>
                <a:cs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6</a:t>
            </a:fld>
            <a:endParaRPr lang="en-US" altLang="en-US" dirty="0">
              <a:solidFill>
                <a:srgbClr val="898989"/>
              </a:solidFill>
              <a:cs typeface="Arial" panose="020B0604020202020204" pitchFamily="34" charset="0"/>
            </a:endParaRPr>
          </a:p>
        </p:txBody>
      </p:sp>
      <p:pic>
        <p:nvPicPr>
          <p:cNvPr id="4" name="Picture 3" descr="A logo for a college of engineering&#10;&#10;AI-generated content may be incorrect.">
            <a:extLst>
              <a:ext uri="{FF2B5EF4-FFF2-40B4-BE49-F238E27FC236}">
                <a16:creationId xmlns="" xmlns:a16="http://schemas.microsoft.com/office/drawing/2014/main" id="{73BD44BD-9C2A-2C72-1990-9CA75DDCFA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8600" y="228509"/>
            <a:ext cx="1028700" cy="838201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C081B59B-9D82-53A9-BACD-4F7C403D54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DEPARTMENT OF CSM PROJECT WORK PHASE-1 REVIEW-1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2FD6E0BA-26C9-D846-0AD6-1B076F161FB9}"/>
              </a:ext>
            </a:extLst>
          </p:cNvPr>
          <p:cNvSpPr txBox="1"/>
          <p:nvPr/>
        </p:nvSpPr>
        <p:spPr>
          <a:xfrm>
            <a:off x="285720" y="1142984"/>
            <a:ext cx="8305800" cy="5170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 smtClean="0"/>
              <a:t>Pros:</a:t>
            </a:r>
            <a:endParaRPr lang="en-US" sz="2000" dirty="0" smtClean="0"/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dirty="0" smtClean="0"/>
              <a:t>Strong generalization to new objects and language instructions (RT-2, </a:t>
            </a:r>
            <a:r>
              <a:rPr lang="en-US" dirty="0" err="1" smtClean="0"/>
              <a:t>OpenVLA</a:t>
            </a:r>
            <a:r>
              <a:rPr lang="en-US" dirty="0" smtClean="0"/>
              <a:t>)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dirty="0" smtClean="0"/>
              <a:t>Open-source and fine-tunable on custom data (</a:t>
            </a:r>
            <a:r>
              <a:rPr lang="en-US" dirty="0" err="1" smtClean="0"/>
              <a:t>OpenVLA</a:t>
            </a:r>
            <a:r>
              <a:rPr lang="en-US" dirty="0" smtClean="0"/>
              <a:t>)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dirty="0" smtClean="0"/>
              <a:t>Resolves referential ambiguity in human commands (Fan &amp; </a:t>
            </a:r>
            <a:r>
              <a:rPr lang="en-US" dirty="0" err="1" smtClean="0"/>
              <a:t>Zheng</a:t>
            </a:r>
            <a:r>
              <a:rPr lang="en-US" dirty="0" smtClean="0"/>
              <a:t>, 93.3% success)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dirty="0" smtClean="0"/>
              <a:t>High success rates reported in controlled benchmark settings</a:t>
            </a:r>
          </a:p>
          <a:p>
            <a:pPr>
              <a:lnSpc>
                <a:spcPct val="150000"/>
              </a:lnSpc>
              <a:buFont typeface="Wingdings" pitchFamily="2" charset="2"/>
              <a:buChar char="v"/>
            </a:pPr>
            <a:endParaRPr lang="en-US" dirty="0" smtClean="0"/>
          </a:p>
          <a:p>
            <a:pPr>
              <a:lnSpc>
                <a:spcPct val="150000"/>
              </a:lnSpc>
            </a:pPr>
            <a:r>
              <a:rPr lang="en-US" sz="2000" b="1" dirty="0" smtClean="0"/>
              <a:t>Cons:</a:t>
            </a:r>
            <a:endParaRPr lang="en-US" sz="2000" dirty="0" smtClean="0"/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dirty="0" smtClean="0"/>
              <a:t>Assumes a fixed, unchanging assembly task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dirty="0" smtClean="0"/>
              <a:t>No mechanism to adapt the task plan in real time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dirty="0" smtClean="0"/>
              <a:t>Still requires manual reprogramming when the product/variant changes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dirty="0" smtClean="0"/>
              <a:t>Precision insufficient for fine industrial assembly tasks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dirty="0" smtClean="0"/>
              <a:t>High computational requirements, not optimized for manufacturing deployment</a:t>
            </a:r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511B3D0-697B-4D0F-66C2-291325B1EF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74638"/>
            <a:ext cx="7391400" cy="639762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eaLnBrk="1" fontAlgn="auto" hangingPunct="1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defRPr/>
            </a:pPr>
            <a:r>
              <a:rPr lang="en-US" sz="28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8527FB4F-5906-D5C2-C9EF-616F2218CC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066800"/>
            <a:ext cx="8763000" cy="5562600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v"/>
            </a:pPr>
            <a:r>
              <a:rPr lang="en-US" sz="1800" b="1" dirty="0" smtClean="0"/>
              <a:t> High-mix manufacturing changes products frequently.</a:t>
            </a:r>
            <a:r>
              <a:rPr lang="en-US" sz="1800" dirty="0" smtClean="0"/>
              <a:t/>
            </a:r>
            <a:br>
              <a:rPr lang="en-US" sz="1800" dirty="0" smtClean="0"/>
            </a:br>
            <a:r>
              <a:rPr lang="en-US" sz="1800" dirty="0" smtClean="0"/>
              <a:t>Industries like aerospace, medical devices, and custom electronics switch product variants multiple times per shift.</a:t>
            </a:r>
          </a:p>
          <a:p>
            <a:pPr>
              <a:lnSpc>
                <a:spcPct val="150000"/>
              </a:lnSpc>
              <a:buFont typeface="Wingdings" pitchFamily="2" charset="2"/>
              <a:buChar char="v"/>
            </a:pPr>
            <a:r>
              <a:rPr lang="en-US" sz="1800" b="1" dirty="0" smtClean="0"/>
              <a:t> Robots can't keep up without manual reprogramming.</a:t>
            </a:r>
            <a:r>
              <a:rPr lang="en-US" sz="1800" dirty="0" smtClean="0"/>
              <a:t/>
            </a:r>
            <a:br>
              <a:rPr lang="en-US" sz="1800" dirty="0" smtClean="0"/>
            </a:br>
            <a:r>
              <a:rPr lang="en-US" sz="1800" dirty="0" smtClean="0"/>
              <a:t>Every variant switch forces a stop-and-reprogram cycle, causing downtime and reducing flexibility.</a:t>
            </a:r>
          </a:p>
          <a:p>
            <a:pPr>
              <a:lnSpc>
                <a:spcPct val="150000"/>
              </a:lnSpc>
              <a:buFont typeface="Wingdings" pitchFamily="2" charset="2"/>
              <a:buChar char="v"/>
            </a:pPr>
            <a:r>
              <a:rPr lang="en-US" sz="1800" b="1" dirty="0" smtClean="0"/>
              <a:t> Existing VLA models don't solve this.</a:t>
            </a:r>
            <a:r>
              <a:rPr lang="en-US" sz="1800" dirty="0" smtClean="0"/>
              <a:t/>
            </a:r>
            <a:br>
              <a:rPr lang="en-US" sz="1800" dirty="0" smtClean="0"/>
            </a:br>
            <a:r>
              <a:rPr lang="en-US" sz="1800" dirty="0" smtClean="0"/>
              <a:t>RT-2, </a:t>
            </a:r>
            <a:r>
              <a:rPr lang="en-US" sz="1800" dirty="0" err="1" smtClean="0"/>
              <a:t>OpenVLA</a:t>
            </a:r>
            <a:r>
              <a:rPr lang="en-US" sz="1800" dirty="0" smtClean="0"/>
              <a:t>, and even ambiguity-resolution work like Fan &amp; </a:t>
            </a:r>
            <a:r>
              <a:rPr lang="en-US" sz="1800" dirty="0" err="1" smtClean="0"/>
              <a:t>Zheng</a:t>
            </a:r>
            <a:r>
              <a:rPr lang="en-US" sz="1800" dirty="0" smtClean="0"/>
              <a:t> (2024) assume a fixed task — none adapt the plan itself when the task changes.</a:t>
            </a:r>
          </a:p>
          <a:p>
            <a:pPr>
              <a:lnSpc>
                <a:spcPct val="150000"/>
              </a:lnSpc>
              <a:buFont typeface="Wingdings" pitchFamily="2" charset="2"/>
              <a:buChar char="v"/>
            </a:pPr>
            <a:r>
              <a:rPr lang="en-US" sz="1800" b="1" dirty="0" smtClean="0"/>
              <a:t> No system currently lets a robot adapt its plan in real time from a spoken instruction.</a:t>
            </a:r>
            <a:r>
              <a:rPr lang="en-US" sz="1800" dirty="0" smtClean="0"/>
              <a:t/>
            </a:r>
            <a:br>
              <a:rPr lang="en-US" sz="1800" dirty="0" smtClean="0"/>
            </a:br>
            <a:r>
              <a:rPr lang="en-US" sz="1800" dirty="0" smtClean="0"/>
              <a:t>This is the exact gap our project addresses.</a:t>
            </a:r>
          </a:p>
          <a:p>
            <a:pPr algn="just" eaLnBrk="1" fontAlgn="auto" hangingPunct="1">
              <a:lnSpc>
                <a:spcPct val="150000"/>
              </a:lnSpc>
              <a:spcAft>
                <a:spcPts val="0"/>
              </a:spcAft>
              <a:buFont typeface="Wingdings" pitchFamily="2" charset="2"/>
              <a:buChar char="v"/>
              <a:defRPr/>
            </a:pPr>
            <a:endParaRPr lang="en-US" sz="1800" dirty="0"/>
          </a:p>
        </p:txBody>
      </p:sp>
      <p:sp>
        <p:nvSpPr>
          <p:cNvPr id="11269" name="Slide Number Placeholder 4">
            <a:extLst>
              <a:ext uri="{FF2B5EF4-FFF2-40B4-BE49-F238E27FC236}">
                <a16:creationId xmlns="" xmlns:a16="http://schemas.microsoft.com/office/drawing/2014/main" id="{6154C12E-0FE3-043E-91A1-FB1BA005632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F6F3171B-38C9-4048-8A52-8953721231B0}" type="slidenum">
              <a:rPr lang="en-US" altLang="en-US" smtClean="0">
                <a:solidFill>
                  <a:srgbClr val="898989"/>
                </a:solidFill>
                <a:cs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7</a:t>
            </a:fld>
            <a:endParaRPr lang="en-US" altLang="en-US" dirty="0">
              <a:solidFill>
                <a:srgbClr val="898989"/>
              </a:solidFill>
              <a:cs typeface="Arial" panose="020B0604020202020204" pitchFamily="34" charset="0"/>
            </a:endParaRPr>
          </a:p>
        </p:txBody>
      </p:sp>
      <p:pic>
        <p:nvPicPr>
          <p:cNvPr id="4" name="Picture 3" descr="A logo for a college of engineering&#10;&#10;AI-generated content may be incorrect.">
            <a:extLst>
              <a:ext uri="{FF2B5EF4-FFF2-40B4-BE49-F238E27FC236}">
                <a16:creationId xmlns="" xmlns:a16="http://schemas.microsoft.com/office/drawing/2014/main" id="{2614CE5A-E75D-45C0-AED2-59349D350D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8600" y="228509"/>
            <a:ext cx="1028700" cy="838201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62D5E49B-4EFD-8A50-EF89-543593FFD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DEPARTMENT OF CSM PROJECT WORK PHASE-1 REVIEW-1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DEPARTMENT OF CSM PROJECT WORK PHASE-1 REVIEW-1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8696073-0439-0442-AC0F-3387FBE4863F}" type="slidenum">
              <a:rPr lang="en-US" altLang="en-US" smtClean="0"/>
              <a:pPr>
                <a:defRPr/>
              </a:pPr>
              <a:t>8</a:t>
            </a:fld>
            <a:endParaRPr lang="en-US" altLang="en-US"/>
          </a:p>
        </p:txBody>
      </p:sp>
      <p:sp>
        <p:nvSpPr>
          <p:cNvPr id="1025" name="Rectangle 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0" y="-2"/>
          <a:ext cx="9144000" cy="7335037"/>
        </p:xfrm>
        <a:graphic>
          <a:graphicData uri="http://schemas.openxmlformats.org/drawingml/2006/table">
            <a:tbl>
              <a:tblPr/>
              <a:tblGrid>
                <a:gridCol w="428596"/>
                <a:gridCol w="1857404"/>
                <a:gridCol w="714364"/>
                <a:gridCol w="1357322"/>
                <a:gridCol w="1071570"/>
                <a:gridCol w="1214446"/>
                <a:gridCol w="1357298"/>
                <a:gridCol w="1143000"/>
              </a:tblGrid>
              <a:tr h="160807">
                <a:tc>
                  <a:txBody>
                    <a:bodyPr/>
                    <a:lstStyle/>
                    <a:p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Ref</a:t>
                      </a:r>
                    </a:p>
                  </a:txBody>
                  <a:tcPr marL="13089" marR="13089" marT="6544" marB="6544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>
                          <a:solidFill>
                            <a:schemeClr val="bg1"/>
                          </a:solidFill>
                        </a:rPr>
                        <a:t>Paper</a:t>
                      </a:r>
                    </a:p>
                  </a:txBody>
                  <a:tcPr marL="13089" marR="13089" marT="6544" marB="6544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>
                          <a:solidFill>
                            <a:schemeClr val="bg1"/>
                          </a:solidFill>
                        </a:rPr>
                        <a:t>Year</a:t>
                      </a:r>
                    </a:p>
                  </a:txBody>
                  <a:tcPr marL="13089" marR="13089" marT="6544" marB="6544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>
                          <a:solidFill>
                            <a:schemeClr val="bg1"/>
                          </a:solidFill>
                        </a:rPr>
                        <a:t>Methodology</a:t>
                      </a:r>
                    </a:p>
                  </a:txBody>
                  <a:tcPr marL="13089" marR="13089" marT="6544" marB="6544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>
                          <a:solidFill>
                            <a:schemeClr val="bg1"/>
                          </a:solidFill>
                        </a:rPr>
                        <a:t>Dataset</a:t>
                      </a:r>
                    </a:p>
                  </a:txBody>
                  <a:tcPr marL="13089" marR="13089" marT="6544" marB="6544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>
                          <a:solidFill>
                            <a:schemeClr val="bg1"/>
                          </a:solidFill>
                        </a:rPr>
                        <a:t>Performance Metrics</a:t>
                      </a:r>
                    </a:p>
                  </a:txBody>
                  <a:tcPr marL="13089" marR="13089" marT="6544" marB="6544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>
                          <a:solidFill>
                            <a:schemeClr val="bg1"/>
                          </a:solidFill>
                        </a:rPr>
                        <a:t>Key Findings</a:t>
                      </a:r>
                    </a:p>
                  </a:txBody>
                  <a:tcPr marL="13089" marR="13089" marT="6544" marB="6544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Research Gap</a:t>
                      </a:r>
                    </a:p>
                  </a:txBody>
                  <a:tcPr marL="13089" marR="13089" marT="6544" marB="6544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951453">
                <a:tc>
                  <a:txBody>
                    <a:bodyPr/>
                    <a:lstStyle/>
                    <a:p>
                      <a:r>
                        <a:rPr lang="en-US" sz="1000" dirty="0"/>
                        <a:t>[1]</a:t>
                      </a:r>
                    </a:p>
                  </a:txBody>
                  <a:tcPr marL="13089" marR="13089" marT="6544" marB="6544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Vision-Language Model-Based Human-Robot Collaboration for Smart Manufacturing: A State-of-the-Art Survey</a:t>
                      </a:r>
                    </a:p>
                  </a:txBody>
                  <a:tcPr marL="13089" marR="13089" marT="6544" marB="6544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2025</a:t>
                      </a:r>
                    </a:p>
                  </a:txBody>
                  <a:tcPr marL="13089" marR="13089" marT="6544" marB="6544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Systematic survey of VLMs in collaborative manufacturing</a:t>
                      </a:r>
                    </a:p>
                  </a:txBody>
                  <a:tcPr marL="13089" marR="13089" marT="6544" marB="6544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109 selected research papers</a:t>
                      </a:r>
                    </a:p>
                  </a:txBody>
                  <a:tcPr marL="13089" marR="13089" marT="6544" marB="6544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Reviews 109 publications covering assembly, inspection and HRC</a:t>
                      </a:r>
                    </a:p>
                  </a:txBody>
                  <a:tcPr marL="13089" marR="13089" marT="6544" marB="6544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Provides taxonomy, industrial challenges and future research directions</a:t>
                      </a:r>
                    </a:p>
                  </a:txBody>
                  <a:tcPr marL="13089" marR="13089" marT="6544" marB="6544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 implementation or quantitative benchmarking</a:t>
                      </a:r>
                    </a:p>
                  </a:txBody>
                  <a:tcPr marL="13089" marR="13089" marT="6544" marB="6544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7999">
                <a:tc>
                  <a:txBody>
                    <a:bodyPr/>
                    <a:lstStyle/>
                    <a:p>
                      <a:r>
                        <a:rPr lang="en-US" sz="1000"/>
                        <a:t>[2]</a:t>
                      </a:r>
                    </a:p>
                  </a:txBody>
                  <a:tcPr marL="13089" marR="13089" marT="6544" marB="6544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Vision-Language-Action Models for Robotics: A Review Towards Real-World Applications</a:t>
                      </a:r>
                    </a:p>
                  </a:txBody>
                  <a:tcPr marL="13089" marR="13089" marT="6544" marB="6544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2025</a:t>
                      </a:r>
                    </a:p>
                  </a:txBody>
                  <a:tcPr marL="13089" marR="13089" marT="6544" marB="6544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Comprehensive survey of VLA architectures, datasets, benchmarks and deployment strategies</a:t>
                      </a:r>
                    </a:p>
                  </a:txBody>
                  <a:tcPr marL="13089" marR="13089" marT="6544" marB="6544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Survey Literature</a:t>
                      </a:r>
                    </a:p>
                  </a:txBody>
                  <a:tcPr marL="13089" marR="13089" marT="6544" marB="6544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Reviews 100+ VLA studies and compares evaluation protocols</a:t>
                      </a:r>
                    </a:p>
                  </a:txBody>
                  <a:tcPr marL="13089" marR="13089" marT="6544" marB="6544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Summarizes recent advances, benchmarks and deployment challenges</a:t>
                      </a:r>
                    </a:p>
                  </a:txBody>
                  <a:tcPr marL="13089" marR="13089" marT="6544" marB="6544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000" dirty="0"/>
                        <a:t>No </a:t>
                      </a:r>
                      <a:r>
                        <a:rPr lang="fr-FR" sz="1000" dirty="0" err="1"/>
                        <a:t>experimental</a:t>
                      </a:r>
                      <a:r>
                        <a:rPr lang="fr-FR" sz="1000" dirty="0"/>
                        <a:t> </a:t>
                      </a:r>
                      <a:r>
                        <a:rPr lang="fr-FR" sz="1000" dirty="0" err="1"/>
                        <a:t>implementation</a:t>
                      </a:r>
                      <a:r>
                        <a:rPr lang="fr-FR" sz="1000" dirty="0"/>
                        <a:t> or quantitative </a:t>
                      </a:r>
                      <a:r>
                        <a:rPr lang="fr-FR" sz="1000" dirty="0" err="1"/>
                        <a:t>evaluation</a:t>
                      </a:r>
                      <a:endParaRPr lang="fr-FR" sz="1000" dirty="0"/>
                    </a:p>
                  </a:txBody>
                  <a:tcPr marL="13089" marR="13089" marT="6544" marB="6544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1200">
                <a:tc>
                  <a:txBody>
                    <a:bodyPr/>
                    <a:lstStyle/>
                    <a:p>
                      <a:r>
                        <a:rPr lang="en-US" sz="1000"/>
                        <a:t>[3]</a:t>
                      </a:r>
                    </a:p>
                  </a:txBody>
                  <a:tcPr marL="13089" marR="13089" marT="6544" marB="6544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Vision-Language Models for Human-Robot Collaboration</a:t>
                      </a:r>
                    </a:p>
                  </a:txBody>
                  <a:tcPr marL="13089" marR="13089" marT="6544" marB="6544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2025</a:t>
                      </a:r>
                    </a:p>
                  </a:txBody>
                  <a:tcPr marL="13089" marR="13089" marT="6544" marB="6544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Review of multimodal perception, language understanding and collaborative robotics</a:t>
                      </a:r>
                    </a:p>
                  </a:txBody>
                  <a:tcPr marL="13089" marR="13089" marT="6544" marB="6544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Human-Robot Collaboration Literature</a:t>
                      </a:r>
                    </a:p>
                  </a:txBody>
                  <a:tcPr marL="13089" marR="13089" marT="6544" marB="6544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Comparative analysis of recent VLM-based HRC frameworks</a:t>
                      </a:r>
                    </a:p>
                  </a:txBody>
                  <a:tcPr marL="13089" marR="13089" marT="6544" marB="6544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Summarizes multimodal reasoning and collaborative task execution</a:t>
                      </a:r>
                    </a:p>
                  </a:txBody>
                  <a:tcPr marL="13089" marR="13089" marT="6544" marB="6544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Limited discussion on manufacturing deployment and industrial validation</a:t>
                      </a:r>
                    </a:p>
                  </a:txBody>
                  <a:tcPr marL="13089" marR="13089" marT="6544" marB="6544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94796">
                <a:tc>
                  <a:txBody>
                    <a:bodyPr/>
                    <a:lstStyle/>
                    <a:p>
                      <a:r>
                        <a:rPr lang="en-US" sz="1000" dirty="0"/>
                        <a:t>[4]</a:t>
                      </a:r>
                    </a:p>
                  </a:txBody>
                  <a:tcPr marL="13089" marR="13089" marT="6544" marB="6544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A vision-language-guided robotic action planning approach for ambiguity mitigation in HRC manufacturing (Fan &amp; </a:t>
                      </a:r>
                      <a:r>
                        <a:rPr lang="en-US" sz="1000" dirty="0" err="1"/>
                        <a:t>Zheng</a:t>
                      </a:r>
                      <a:r>
                        <a:rPr lang="en-US" sz="1000" dirty="0"/>
                        <a:t>)</a:t>
                      </a:r>
                    </a:p>
                  </a:txBody>
                  <a:tcPr marL="13089" marR="13089" marT="6544" marB="6544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2024</a:t>
                      </a:r>
                    </a:p>
                  </a:txBody>
                  <a:tcPr marL="13089" marR="13089" marT="6544" marB="6544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CLIP for visual grounding + LLM-based referred-object retrieval + action planner</a:t>
                      </a:r>
                    </a:p>
                  </a:txBody>
                  <a:tcPr marL="13089" marR="13089" marT="6544" marB="6544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Custom industrial HRC assembly dataset</a:t>
                      </a:r>
                    </a:p>
                  </a:txBody>
                  <a:tcPr marL="13089" marR="13089" marT="6544" marB="6544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93.3% success rate</a:t>
                      </a:r>
                    </a:p>
                  </a:txBody>
                  <a:tcPr marL="13089" marR="13089" marT="6544" marB="6544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Resolves ambiguous object references ("hand me that one</a:t>
                      </a:r>
                      <a:r>
                        <a:rPr lang="en-US" sz="1000" dirty="0" smtClean="0"/>
                        <a:t>")</a:t>
                      </a:r>
                    </a:p>
                    <a:p>
                      <a:r>
                        <a:rPr lang="en-US" sz="1000" dirty="0" smtClean="0"/>
                        <a:t>in </a:t>
                      </a:r>
                      <a:r>
                        <a:rPr lang="en-US" sz="1000" dirty="0"/>
                        <a:t>a fixed assembly task</a:t>
                      </a:r>
                    </a:p>
                  </a:txBody>
                  <a:tcPr marL="13089" marR="13089" marT="6544" marB="6544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No mechanism to adapt the task/plan itself when the manufacturing goal changes (e.g., variant switch)</a:t>
                      </a:r>
                    </a:p>
                  </a:txBody>
                  <a:tcPr marL="13089" marR="13089" marT="6544" marB="6544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41594">
                <a:tc>
                  <a:txBody>
                    <a:bodyPr/>
                    <a:lstStyle/>
                    <a:p>
                      <a:r>
                        <a:rPr lang="en-US" sz="1000" b="1" dirty="0"/>
                        <a:t>[5]</a:t>
                      </a:r>
                    </a:p>
                  </a:txBody>
                  <a:tcPr marL="13089" marR="13089" marT="6544" marB="6544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1"/>
                        <a:t>OpenVLA: An Open-Source Vision-Language-Action Model</a:t>
                      </a:r>
                    </a:p>
                  </a:txBody>
                  <a:tcPr marL="13089" marR="13089" marT="6544" marB="6544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1"/>
                        <a:t>2024</a:t>
                      </a:r>
                    </a:p>
                  </a:txBody>
                  <a:tcPr marL="13089" marR="13089" marT="6544" marB="6544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1"/>
                        <a:t>Open-source Vision-Language-Action (VLA) model for robotic manipulation</a:t>
                      </a:r>
                    </a:p>
                  </a:txBody>
                  <a:tcPr marL="13089" marR="13089" marT="6544" marB="6544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1"/>
                        <a:t>Open X-Embodiment</a:t>
                      </a:r>
                    </a:p>
                  </a:txBody>
                  <a:tcPr marL="13089" marR="13089" marT="6544" marB="6544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1"/>
                        <a:t>16.5% absolute improvement over RT-2-X across 29 tasks (verify exact base success-rate figure against the paper before citing)</a:t>
                      </a:r>
                    </a:p>
                  </a:txBody>
                  <a:tcPr marL="13089" marR="13089" marT="6544" marB="6544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1"/>
                        <a:t>Achieves state-of-the-art manipulation performance with efficient fine-tuning and open-source deployment</a:t>
                      </a:r>
                    </a:p>
                  </a:txBody>
                  <a:tcPr marL="13089" marR="13089" marT="6544" marB="6544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1" dirty="0"/>
                        <a:t>Requires high computational resources and lacks manufacturing-specific optimization</a:t>
                      </a:r>
                    </a:p>
                  </a:txBody>
                  <a:tcPr marL="13089" marR="13089" marT="6544" marB="6544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94796">
                <a:tc>
                  <a:txBody>
                    <a:bodyPr/>
                    <a:lstStyle/>
                    <a:p>
                      <a:r>
                        <a:rPr lang="en-US" sz="1000"/>
                        <a:t>[6]</a:t>
                      </a:r>
                    </a:p>
                  </a:txBody>
                  <a:tcPr marL="13089" marR="13089" marT="6544" marB="6544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QUAR-VLA: Vision-Language-Action Model for Quadruped Robots</a:t>
                      </a:r>
                    </a:p>
                  </a:txBody>
                  <a:tcPr marL="13089" marR="13089" marT="6544" marB="6544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2024</a:t>
                      </a:r>
                    </a:p>
                  </a:txBody>
                  <a:tcPr marL="13089" marR="13089" marT="6544" marB="6544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Vision-Language-Action framework for autonomous navigation and manipulation on quadruped robots</a:t>
                      </a:r>
                    </a:p>
                  </a:txBody>
                  <a:tcPr marL="13089" marR="13089" marT="6544" marB="6544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QUARD (259K simulated + 3K real-world episodes)</a:t>
                      </a:r>
                    </a:p>
                  </a:txBody>
                  <a:tcPr marL="13089" marR="13089" marT="6544" marB="6544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Trained on 262K demonstrations with strong sim-to-real generalization</a:t>
                      </a:r>
                    </a:p>
                  </a:txBody>
                  <a:tcPr marL="13089" marR="13089" marT="6544" marB="6544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Enables language-guided locomotion, manipulation and reasoning</a:t>
                      </a:r>
                    </a:p>
                  </a:txBody>
                  <a:tcPr marL="13089" marR="13089" marT="6544" marB="6544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Focused on quadruped robots instead of collaborative industrial manipulators</a:t>
                      </a:r>
                    </a:p>
                  </a:txBody>
                  <a:tcPr marL="13089" marR="13089" marT="6544" marB="6544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7999">
                <a:tc>
                  <a:txBody>
                    <a:bodyPr/>
                    <a:lstStyle/>
                    <a:p>
                      <a:r>
                        <a:rPr lang="en-US" sz="1000"/>
                        <a:t>[7]</a:t>
                      </a:r>
                    </a:p>
                  </a:txBody>
                  <a:tcPr marL="13089" marR="13089" marT="6544" marB="6544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Towards Open-World Grasping with Large Vision-Language Models</a:t>
                      </a:r>
                    </a:p>
                  </a:txBody>
                  <a:tcPr marL="13089" marR="13089" marT="6544" marB="6544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2024</a:t>
                      </a:r>
                    </a:p>
                  </a:txBody>
                  <a:tcPr marL="13089" marR="13089" marT="6544" marB="6544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VLM integrated with segmentation, grasp synthesis and contact reasoning</a:t>
                      </a:r>
                    </a:p>
                  </a:txBody>
                  <a:tcPr marL="13089" marR="13089" marT="6544" marB="6544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OCID-VLG, Grasp-MultiObject, Real Robot Evaluation</a:t>
                      </a:r>
                    </a:p>
                  </a:txBody>
                  <a:tcPr marL="13089" marR="13089" marT="6544" marB="6544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Outperforms previous supervised and zero-shot LLM baselines in simulation and real hardware</a:t>
                      </a:r>
                    </a:p>
                  </a:txBody>
                  <a:tcPr marL="13089" marR="13089" marT="6544" marB="6544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Improves zero-shot grasp planning for unseen objects</a:t>
                      </a:r>
                    </a:p>
                  </a:txBody>
                  <a:tcPr marL="13089" marR="13089" marT="6544" marB="6544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Limited to grasping rather than complete manufacturing workflows</a:t>
                      </a:r>
                    </a:p>
                  </a:txBody>
                  <a:tcPr marL="13089" marR="13089" marT="6544" marB="6544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17358">
                <a:tc>
                  <a:txBody>
                    <a:bodyPr/>
                    <a:lstStyle/>
                    <a:p>
                      <a:r>
                        <a:rPr lang="en-US" sz="1000"/>
                        <a:t>[8]</a:t>
                      </a:r>
                    </a:p>
                  </a:txBody>
                  <a:tcPr marL="13089" marR="13089" marT="6544" marB="6544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RT-2: Vision-Language-Action Models Transfer Web Knowledge to Robotic Control</a:t>
                      </a:r>
                    </a:p>
                  </a:txBody>
                  <a:tcPr marL="13089" marR="13089" marT="6544" marB="6544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2023</a:t>
                      </a:r>
                    </a:p>
                  </a:txBody>
                  <a:tcPr marL="13089" marR="13089" marT="6544" marB="6544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Co-fine-tunes a VLM on web-scale + robot trajectory data, outputs actions as text tokens</a:t>
                      </a:r>
                    </a:p>
                  </a:txBody>
                  <a:tcPr marL="13089" marR="13089" marT="6544" marB="6544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Internet-scale image-text + robot demonstration data</a:t>
                      </a:r>
                    </a:p>
                  </a:txBody>
                  <a:tcPr marL="13089" marR="13089" marT="6544" marB="6544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62% success rate (custom evaluation)</a:t>
                      </a:r>
                    </a:p>
                  </a:txBody>
                  <a:tcPr marL="13089" marR="13089" marT="6544" marB="6544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First major VLA; shows web-scale semantic knowledge transfers to robot control</a:t>
                      </a:r>
                    </a:p>
                  </a:txBody>
                  <a:tcPr marL="13089" marR="13089" marT="6544" marB="6544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General manipulation only; no manufacturing-specific optimization or task-adaptation mechanism</a:t>
                      </a:r>
                    </a:p>
                  </a:txBody>
                  <a:tcPr marL="13089" marR="13089" marT="6544" marB="6544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D2BB1C95-4744-461E-C6E4-35A801E6BE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74638"/>
            <a:ext cx="7391400" cy="639762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eaLnBrk="1" fontAlgn="auto" hangingPunct="1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defRPr/>
            </a:pPr>
            <a:r>
              <a:rPr lang="en-US" sz="28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Objectives &amp; Deliverables Proposed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815DD4CB-253E-F5D2-F755-CBCEFF5B06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066800"/>
            <a:ext cx="8763000" cy="5562600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endParaRPr lang="en-US" sz="2800" dirty="0"/>
          </a:p>
          <a:p>
            <a:pPr eaLnBrk="1" fontAlgn="auto" hangingPunct="1">
              <a:spcAft>
                <a:spcPts val="0"/>
              </a:spcAft>
              <a:defRPr/>
            </a:pPr>
            <a:endParaRPr lang="en-US" sz="2800" dirty="0"/>
          </a:p>
          <a:p>
            <a:pPr eaLnBrk="1" fontAlgn="auto" hangingPunct="1">
              <a:spcAft>
                <a:spcPts val="0"/>
              </a:spcAft>
              <a:defRPr/>
            </a:pPr>
            <a:endParaRPr lang="en-US" sz="2800" dirty="0"/>
          </a:p>
          <a:p>
            <a:pPr eaLnBrk="1" fontAlgn="auto" hangingPunct="1">
              <a:spcAft>
                <a:spcPts val="0"/>
              </a:spcAft>
              <a:defRPr/>
            </a:pPr>
            <a:endParaRPr lang="en-US" sz="2800" dirty="0"/>
          </a:p>
          <a:p>
            <a:pPr marL="0" indent="0" eaLnBrk="1" fontAlgn="auto" hangingPunct="1">
              <a:spcAft>
                <a:spcPts val="0"/>
              </a:spcAft>
              <a:buNone/>
              <a:defRPr/>
            </a:pPr>
            <a:endParaRPr lang="en-US" sz="2800" dirty="0"/>
          </a:p>
        </p:txBody>
      </p:sp>
      <p:sp>
        <p:nvSpPr>
          <p:cNvPr id="12293" name="Slide Number Placeholder 4">
            <a:extLst>
              <a:ext uri="{FF2B5EF4-FFF2-40B4-BE49-F238E27FC236}">
                <a16:creationId xmlns="" xmlns:a16="http://schemas.microsoft.com/office/drawing/2014/main" id="{27DCCAF4-2051-81C6-BB7D-630CE44510B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6D40E627-E50B-7D4A-BF44-1C82372BDF89}" type="slidenum">
              <a:rPr lang="en-US" altLang="en-US" smtClean="0">
                <a:solidFill>
                  <a:srgbClr val="898989"/>
                </a:solidFill>
                <a:cs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9</a:t>
            </a:fld>
            <a:endParaRPr lang="en-US" altLang="en-US" dirty="0">
              <a:solidFill>
                <a:srgbClr val="898989"/>
              </a:solidFill>
              <a:cs typeface="Arial" panose="020B0604020202020204" pitchFamily="34" charset="0"/>
            </a:endParaRPr>
          </a:p>
        </p:txBody>
      </p:sp>
      <p:pic>
        <p:nvPicPr>
          <p:cNvPr id="4" name="Picture 3" descr="A logo for a college of engineering&#10;&#10;AI-generated content may be incorrect.">
            <a:extLst>
              <a:ext uri="{FF2B5EF4-FFF2-40B4-BE49-F238E27FC236}">
                <a16:creationId xmlns="" xmlns:a16="http://schemas.microsoft.com/office/drawing/2014/main" id="{DC5A68FC-0B10-D4FC-5E40-F88E66CBBD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8600" y="228509"/>
            <a:ext cx="1028700" cy="838201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2C6E7F39-FB23-1075-80EE-082BF154FD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DEPARTMENT OF CSM PROJECT WORK PHASE-1 REVIEW-1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74D7847B-1CA9-6790-65A6-828CFB8327B7}"/>
              </a:ext>
            </a:extLst>
          </p:cNvPr>
          <p:cNvSpPr txBox="1"/>
          <p:nvPr/>
        </p:nvSpPr>
        <p:spPr>
          <a:xfrm>
            <a:off x="252984" y="1219110"/>
            <a:ext cx="8533858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b="1" dirty="0" smtClean="0"/>
              <a:t>Objective </a:t>
            </a:r>
            <a:r>
              <a:rPr lang="en-IN" b="1" dirty="0"/>
              <a:t>1: </a:t>
            </a:r>
            <a:r>
              <a:rPr lang="en-IN" dirty="0"/>
              <a:t>Develop a Vision-Language Robotics framework capable of understanding natural language instructions and visual inputs for collaborative manufacturing tasks. </a:t>
            </a:r>
          </a:p>
          <a:p>
            <a:pPr algn="just">
              <a:lnSpc>
                <a:spcPct val="150000"/>
              </a:lnSpc>
            </a:pPr>
            <a:r>
              <a:rPr lang="en-IN" b="1" dirty="0"/>
              <a:t>Objective 2: </a:t>
            </a:r>
            <a:r>
              <a:rPr lang="en-IN" dirty="0"/>
              <a:t>Implement multimodal learning techniques that combine computer vision, language models, and robotic control for intelligent task planning and execution.</a:t>
            </a:r>
          </a:p>
          <a:p>
            <a:pPr algn="just">
              <a:lnSpc>
                <a:spcPct val="150000"/>
              </a:lnSpc>
            </a:pPr>
            <a:r>
              <a:rPr lang="en-IN" b="1" dirty="0"/>
              <a:t>Objective 3: </a:t>
            </a:r>
            <a:r>
              <a:rPr lang="en-IN" dirty="0"/>
              <a:t>Design a collaborative robotic system that improves manufacturing flexibility, task accuracy, human-robot interaction, and workplace safety. </a:t>
            </a:r>
            <a:endParaRPr lang="en-IN" dirty="0" smtClean="0"/>
          </a:p>
          <a:p>
            <a:pPr algn="just">
              <a:lnSpc>
                <a:spcPct val="150000"/>
              </a:lnSpc>
            </a:pPr>
            <a:endParaRPr lang="en-IN" dirty="0"/>
          </a:p>
          <a:p>
            <a:pPr algn="just">
              <a:lnSpc>
                <a:spcPct val="150000"/>
              </a:lnSpc>
            </a:pPr>
            <a:r>
              <a:rPr lang="en-IN" b="1" dirty="0"/>
              <a:t>Expected Deliverables</a:t>
            </a:r>
            <a:r>
              <a:rPr lang="en-IN" b="1" dirty="0" smtClean="0"/>
              <a:t>:</a:t>
            </a:r>
            <a:endParaRPr lang="en-IN" dirty="0"/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dirty="0"/>
              <a:t>An intelligent Vision-Language robotic prototype capable of understanding natural language instructions and executing collaborative manufacturing tasks.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dirty="0"/>
              <a:t>A real-time multimodal robotic system integrating computer vision, language reasoning, and autonomous task planning for smart manufacturing.</a:t>
            </a:r>
            <a:endParaRPr lang="en-IN" b="1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ontent Placeholder 1">
            <a:extLst>
              <a:ext uri="{FF2B5EF4-FFF2-40B4-BE49-F238E27FC236}">
                <a16:creationId xmlns="" xmlns:a16="http://schemas.microsoft.com/office/drawing/2014/main" id="{8EA006C2-2DA1-4434-ADD5-69151F952DA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="" xmlns:p14="http://schemas.microsoft.com/office/powerpoint/2010/main" val="2843352184"/>
              </p:ext>
            </p:extLst>
          </p:nvPr>
        </p:nvGraphicFramePr>
        <p:xfrm>
          <a:off x="253448" y="1066711"/>
          <a:ext cx="8433352" cy="53543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20373">
                  <a:extLst>
                    <a:ext uri="{9D8B030D-6E8A-4147-A177-3AD203B41FA5}">
                      <a16:colId xmlns="" xmlns:a16="http://schemas.microsoft.com/office/drawing/2014/main" val="2165382669"/>
                    </a:ext>
                  </a:extLst>
                </a:gridCol>
                <a:gridCol w="2933340">
                  <a:extLst>
                    <a:ext uri="{9D8B030D-6E8A-4147-A177-3AD203B41FA5}">
                      <a16:colId xmlns="" xmlns:a16="http://schemas.microsoft.com/office/drawing/2014/main" val="427468806"/>
                    </a:ext>
                  </a:extLst>
                </a:gridCol>
                <a:gridCol w="4379639">
                  <a:extLst>
                    <a:ext uri="{9D8B030D-6E8A-4147-A177-3AD203B41FA5}">
                      <a16:colId xmlns="" xmlns:a16="http://schemas.microsoft.com/office/drawing/2014/main" val="3911388212"/>
                    </a:ext>
                  </a:extLst>
                </a:gridCol>
              </a:tblGrid>
              <a:tr h="370865">
                <a:tc>
                  <a:txBody>
                    <a:bodyPr/>
                    <a:lstStyle/>
                    <a:p>
                      <a:r>
                        <a:rPr lang="en-IN" dirty="0"/>
                        <a:t>SDG No.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Goal Title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Justification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538723003"/>
                  </a:ext>
                </a:extLst>
              </a:tr>
              <a:tr h="1081332">
                <a:tc>
                  <a:txBody>
                    <a:bodyPr/>
                    <a:lstStyle/>
                    <a:p>
                      <a:r>
                        <a:rPr lang="en-IN" dirty="0"/>
                        <a:t>SDG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Quality Education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The project promotes learning and research in artificial intelligence, robotics, computer vision, and intelligent automation by providing a practical implementation of Vision-Language Robotics for engineering education and skill development.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2698965"/>
                  </a:ext>
                </a:extLst>
              </a:tr>
              <a:tr h="882720">
                <a:tc>
                  <a:txBody>
                    <a:bodyPr/>
                    <a:lstStyle/>
                    <a:p>
                      <a:r>
                        <a:rPr lang="en-IN" dirty="0"/>
                        <a:t>SDG 8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Decent Work and Economic Growth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By automating repetitive manufacturing tasks and enabling safe human-robot collaboration, the system enhances workforce productivity, improves operational efficiency, and supports sustainable industrial growth.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3638831399"/>
                  </a:ext>
                </a:extLst>
              </a:tr>
              <a:tr h="882720">
                <a:tc>
                  <a:txBody>
                    <a:bodyPr/>
                    <a:lstStyle/>
                    <a:p>
                      <a:r>
                        <a:rPr lang="en-IN" dirty="0"/>
                        <a:t>SDG 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Industry, Innovation and Infrastructure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The proposed framework integrates Vision-Language Models, computer vision, and collaborative robotics to develop intelligent manufacturing solutions, fostering industrial innovation and smart factory infrastructure.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093920795"/>
                  </a:ext>
                </a:extLst>
              </a:tr>
              <a:tr h="882720">
                <a:tc>
                  <a:txBody>
                    <a:bodyPr/>
                    <a:lstStyle/>
                    <a:p>
                      <a:r>
                        <a:rPr lang="en-IN" dirty="0"/>
                        <a:t>SDG 12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Responsible Consumption and Production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Production The robotic system improves production efficiency, minimizes material waste, reduces manufacturing errors, and optimizes resource utilization through intelligent decision-making and automation.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3926713570"/>
                  </a:ext>
                </a:extLst>
              </a:tr>
              <a:tr h="1081332">
                <a:tc>
                  <a:txBody>
                    <a:bodyPr/>
                    <a:lstStyle/>
                    <a:p>
                      <a:r>
                        <a:rPr lang="en-IN" dirty="0"/>
                        <a:t>SDG 17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Partnerships for the Goals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the Goals The project encourages collaboration among academia, industry, and AI research communities by integrating open-source robotics frameworks, Vision-Language Models, and advanced manufacturing technologies.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839370918"/>
                  </a:ext>
                </a:extLst>
              </a:tr>
            </a:tbl>
          </a:graphicData>
        </a:graphic>
      </p:graphicFrame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B1AEB1D7-F71A-BE96-D838-64E5F1B0E6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DEPARTMENT OF CSM PROJECT WORK PHASE-1 REVIEW-1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78B2A84E-44BE-0E74-E443-2BA96C63D0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8696073-0439-0442-AC0F-3387FBE4863F}" type="slidenum">
              <a:rPr lang="en-US" altLang="en-US" smtClean="0"/>
              <a:pPr>
                <a:defRPr/>
              </a:pPr>
              <a:t>10</a:t>
            </a:fld>
            <a:endParaRPr lang="en-US" altLang="en-US" dirty="0"/>
          </a:p>
        </p:txBody>
      </p:sp>
      <p:pic>
        <p:nvPicPr>
          <p:cNvPr id="6" name="Picture 5" descr="A logo for a college of engineering&#10;&#10;AI-generated content may be incorrect.">
            <a:extLst>
              <a:ext uri="{FF2B5EF4-FFF2-40B4-BE49-F238E27FC236}">
                <a16:creationId xmlns="" xmlns:a16="http://schemas.microsoft.com/office/drawing/2014/main" id="{1E335621-FC1A-76DA-CF5A-3391A96800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8600" y="228509"/>
            <a:ext cx="1028700" cy="838201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="" xmlns:a16="http://schemas.microsoft.com/office/drawing/2014/main" id="{F3323897-E07E-D7DE-E573-C20F1E0E1EE1}"/>
              </a:ext>
            </a:extLst>
          </p:cNvPr>
          <p:cNvSpPr txBox="1">
            <a:spLocks/>
          </p:cNvSpPr>
          <p:nvPr/>
        </p:nvSpPr>
        <p:spPr bwMode="auto">
          <a:xfrm>
            <a:off x="266700" y="145269"/>
            <a:ext cx="7391400" cy="639762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>
            <a:lvl1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4572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9144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3716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18288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defRPr/>
            </a:pPr>
            <a:r>
              <a:rPr lang="en-US" sz="2800" dirty="0"/>
              <a:t>SDG Mapping</a:t>
            </a:r>
            <a:endParaRPr lang="en-US" sz="2800" b="1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8840993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" name="Content Placeholder 19">
            <a:extLst>
              <a:ext uri="{FF2B5EF4-FFF2-40B4-BE49-F238E27FC236}">
                <a16:creationId xmlns="" xmlns:a16="http://schemas.microsoft.com/office/drawing/2014/main" id="{736AA482-9574-6CD0-CC65-AD42B80C152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="" xmlns:p14="http://schemas.microsoft.com/office/powerpoint/2010/main" val="187659833"/>
              </p:ext>
            </p:extLst>
          </p:nvPr>
        </p:nvGraphicFramePr>
        <p:xfrm>
          <a:off x="327991" y="1127374"/>
          <a:ext cx="8572500" cy="51990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9563">
                  <a:extLst>
                    <a:ext uri="{9D8B030D-6E8A-4147-A177-3AD203B41FA5}">
                      <a16:colId xmlns="" xmlns:a16="http://schemas.microsoft.com/office/drawing/2014/main" val="664664233"/>
                    </a:ext>
                  </a:extLst>
                </a:gridCol>
                <a:gridCol w="3306169">
                  <a:extLst>
                    <a:ext uri="{9D8B030D-6E8A-4147-A177-3AD203B41FA5}">
                      <a16:colId xmlns="" xmlns:a16="http://schemas.microsoft.com/office/drawing/2014/main" val="384181459"/>
                    </a:ext>
                  </a:extLst>
                </a:gridCol>
                <a:gridCol w="4296768">
                  <a:extLst>
                    <a:ext uri="{9D8B030D-6E8A-4147-A177-3AD203B41FA5}">
                      <a16:colId xmlns="" xmlns:a16="http://schemas.microsoft.com/office/drawing/2014/main" val="1343102855"/>
                    </a:ext>
                  </a:extLst>
                </a:gridCol>
              </a:tblGrid>
              <a:tr h="848032">
                <a:tc>
                  <a:txBody>
                    <a:bodyPr/>
                    <a:lstStyle/>
                    <a:p>
                      <a:r>
                        <a:rPr lang="en-IN" sz="1350" dirty="0"/>
                        <a:t>Po 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Name of the PO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Targeted Justification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368075678"/>
                  </a:ext>
                </a:extLst>
              </a:tr>
              <a:tr h="685799">
                <a:tc>
                  <a:txBody>
                    <a:bodyPr/>
                    <a:lstStyle/>
                    <a:p>
                      <a:r>
                        <a:rPr lang="en-IN" dirty="0"/>
                        <a:t>PO1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Engineering knowledge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Apply principles of Artificial Intelligence, Computer Vision, Machine Learning, Robotics for collaborative manufacturing.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607329486"/>
                  </a:ext>
                </a:extLst>
              </a:tr>
              <a:tr h="662939">
                <a:tc>
                  <a:txBody>
                    <a:bodyPr/>
                    <a:lstStyle/>
                    <a:p>
                      <a:r>
                        <a:rPr lang="en-IN" dirty="0"/>
                        <a:t>PO2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Problem analysis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/>
                        <a:t>Analyze</a:t>
                      </a:r>
                      <a:r>
                        <a:rPr lang="en-IN" dirty="0"/>
                        <a:t> challenges in conventional industrial automation, to design effective AI-driven manufacturing solutions.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470345343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lang="en-IN" dirty="0"/>
                        <a:t>PO3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fontAlgn="base">
                        <a:buNone/>
                      </a:pPr>
                      <a:r>
                        <a:rPr lang="en-IN" dirty="0"/>
                        <a:t>Design/Development of Solutions </a:t>
                      </a:r>
                      <a:endParaRPr lang="en-IN" b="0" i="0" dirty="0">
                        <a:solidFill>
                          <a:srgbClr val="FFFFFF"/>
                        </a:solidFill>
                        <a:effectLst/>
                        <a:latin typeface="-apple-system-body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fontAlgn="base">
                        <a:buNone/>
                      </a:pPr>
                      <a:r>
                        <a:rPr lang="en-IN" dirty="0"/>
                        <a:t>Design and develop a multimodal robotic framework integrating Vision-Language Models, computer vision, and execution in manufacturing environments. </a:t>
                      </a:r>
                      <a:endParaRPr lang="en-IN" b="0" i="0" dirty="0">
                        <a:solidFill>
                          <a:srgbClr val="FFFFFF"/>
                        </a:solidFill>
                        <a:effectLst/>
                        <a:latin typeface="-apple-system-body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3519085773"/>
                  </a:ext>
                </a:extLst>
              </a:tr>
              <a:tr h="490875">
                <a:tc>
                  <a:txBody>
                    <a:bodyPr/>
                    <a:lstStyle/>
                    <a:p>
                      <a:r>
                        <a:rPr lang="en-IN" dirty="0"/>
                        <a:t>PO5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Engineering Tool Usage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Utilize modern engineering tools and technologies implement and evaluate the proposed system.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994034315"/>
                  </a:ext>
                </a:extLst>
              </a:tr>
              <a:tr h="275610">
                <a:tc>
                  <a:txBody>
                    <a:bodyPr/>
                    <a:lstStyle/>
                    <a:p>
                      <a:r>
                        <a:rPr lang="en-IN" dirty="0"/>
                        <a:t>PO7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Ethics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Develop an AI-enabled robotic system that emphasizes safe, reliable, and ethical human-robot collaboration.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791213191"/>
                  </a:ext>
                </a:extLst>
              </a:tr>
              <a:tr h="275610">
                <a:tc>
                  <a:txBody>
                    <a:bodyPr/>
                    <a:lstStyle/>
                    <a:p>
                      <a:r>
                        <a:rPr lang="en-IN" dirty="0"/>
                        <a:t>PO8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Individual and Collaborative Team Work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Work effectively as an individual and as a team to design, develop, integrate, test, and validate the Vision-Language robotic system through collaborative project execution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520843760"/>
                  </a:ext>
                </a:extLst>
              </a:tr>
              <a:tr h="275610">
                <a:tc>
                  <a:txBody>
                    <a:bodyPr/>
                    <a:lstStyle/>
                    <a:p>
                      <a:r>
                        <a:rPr lang="en-IN" dirty="0"/>
                        <a:t>PO11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Life-Long Learning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Continuously explore emerging to develop innovative and future ready manufacturing solutions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4273594763"/>
                  </a:ext>
                </a:extLst>
              </a:tr>
            </a:tbl>
          </a:graphicData>
        </a:graphic>
      </p:graphicFrame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40AA3CB4-2F53-010F-F197-53652757F5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DEPARTMENT OF CSM PROJECT WORK PHASE-1 REVIEW-1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9EA0E23C-2698-E331-453A-F1CCD76D2D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8696073-0439-0442-AC0F-3387FBE4863F}" type="slidenum">
              <a:rPr lang="en-US" altLang="en-US" smtClean="0"/>
              <a:pPr>
                <a:defRPr/>
              </a:pPr>
              <a:t>11</a:t>
            </a:fld>
            <a:endParaRPr lang="en-US" altLang="en-US"/>
          </a:p>
        </p:txBody>
      </p:sp>
      <p:pic>
        <p:nvPicPr>
          <p:cNvPr id="6" name="Picture 5" descr="A logo for a college of engineering&#10;&#10;AI-generated content may be incorrect.">
            <a:extLst>
              <a:ext uri="{FF2B5EF4-FFF2-40B4-BE49-F238E27FC236}">
                <a16:creationId xmlns="" xmlns:a16="http://schemas.microsoft.com/office/drawing/2014/main" id="{8F2C3ECF-2F42-0AF6-4B66-1634A32339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8600" y="228509"/>
            <a:ext cx="1028700" cy="838201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="" xmlns:a16="http://schemas.microsoft.com/office/drawing/2014/main" id="{537F1173-304E-14F2-FAA3-14AFA850EC38}"/>
              </a:ext>
            </a:extLst>
          </p:cNvPr>
          <p:cNvSpPr txBox="1">
            <a:spLocks/>
          </p:cNvSpPr>
          <p:nvPr/>
        </p:nvSpPr>
        <p:spPr bwMode="auto">
          <a:xfrm>
            <a:off x="266700" y="136525"/>
            <a:ext cx="7391400" cy="639762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>
            <a:lvl1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4572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9144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3716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18288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defRPr/>
            </a:pPr>
            <a:r>
              <a:rPr lang="en-US" sz="2800" dirty="0"/>
              <a:t>PO Mapping</a:t>
            </a:r>
            <a:endParaRPr lang="en-US" sz="2800" b="1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6969184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Content Placeholder 6">
            <a:extLst>
              <a:ext uri="{FF2B5EF4-FFF2-40B4-BE49-F238E27FC236}">
                <a16:creationId xmlns="" xmlns:a16="http://schemas.microsoft.com/office/drawing/2014/main" id="{8A3D638B-755D-58B5-8A2F-ED830DFC05A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="" xmlns:p14="http://schemas.microsoft.com/office/powerpoint/2010/main" val="1805171681"/>
              </p:ext>
            </p:extLst>
          </p:nvPr>
        </p:nvGraphicFramePr>
        <p:xfrm>
          <a:off x="266700" y="1143000"/>
          <a:ext cx="8496301" cy="47383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9185">
                  <a:extLst>
                    <a:ext uri="{9D8B030D-6E8A-4147-A177-3AD203B41FA5}">
                      <a16:colId xmlns="" xmlns:a16="http://schemas.microsoft.com/office/drawing/2014/main" val="1437374121"/>
                    </a:ext>
                  </a:extLst>
                </a:gridCol>
                <a:gridCol w="3611954">
                  <a:extLst>
                    <a:ext uri="{9D8B030D-6E8A-4147-A177-3AD203B41FA5}">
                      <a16:colId xmlns="" xmlns:a16="http://schemas.microsoft.com/office/drawing/2014/main" val="3163962558"/>
                    </a:ext>
                  </a:extLst>
                </a:gridCol>
                <a:gridCol w="3345162">
                  <a:extLst>
                    <a:ext uri="{9D8B030D-6E8A-4147-A177-3AD203B41FA5}">
                      <a16:colId xmlns="" xmlns:a16="http://schemas.microsoft.com/office/drawing/2014/main" val="2122049614"/>
                    </a:ext>
                  </a:extLst>
                </a:gridCol>
              </a:tblGrid>
              <a:tr h="706548">
                <a:tc>
                  <a:txBody>
                    <a:bodyPr/>
                    <a:lstStyle/>
                    <a:p>
                      <a:r>
                        <a:rPr lang="en-IN" dirty="0"/>
                        <a:t>PSO 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Name of the PSO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Justification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141274337"/>
                  </a:ext>
                </a:extLst>
              </a:tr>
              <a:tr h="2128581">
                <a:tc>
                  <a:txBody>
                    <a:bodyPr/>
                    <a:lstStyle/>
                    <a:p>
                      <a:r>
                        <a:rPr lang="en-IN" dirty="0"/>
                        <a:t>PSO1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Apply the knowledge of Artificial Intelligence to design, develop, and evaluate computational solutions for complex problems in diverse domains, such as healthcare, finance, and automation.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The project applies Artificial Intelligence, Computer Vision, and Vision-Language Models to develop an intelligent collaborative robotic system capable of perceiving its environment, understanding human instructions, and autonomously performing manufacturing tasks, thereby addressing complex automation challenges.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353978517"/>
                  </a:ext>
                </a:extLst>
              </a:tr>
              <a:tr h="1903202">
                <a:tc>
                  <a:txBody>
                    <a:bodyPr/>
                    <a:lstStyle/>
                    <a:p>
                      <a:r>
                        <a:rPr lang="en-IN" dirty="0"/>
                        <a:t>PSO2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Demonstrate expertise in using advanced ML tools, techniques, and frameworks to develop innovative solutions for data analysis, pattern recognition, and intelligent decision-making systems.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The project utilizes advanced machine learning frameworks, deep learning models, robotic middleware, and multimodal learning techniques to enable real-time perception, semantic reasoning, intelligent decision-making, and adaptive task execution in collaborative manufacturing environments.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370433998"/>
                  </a:ext>
                </a:extLst>
              </a:tr>
            </a:tbl>
          </a:graphicData>
        </a:graphic>
      </p:graphicFrame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8B211007-D38D-0F73-2C0B-A93F73B00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DEPARTMENT OF CSM PROJECT WORK PHASE-1 REVIEW-1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149D4A80-6F48-7F1A-33E1-350D191F78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8696073-0439-0442-AC0F-3387FBE4863F}" type="slidenum">
              <a:rPr lang="en-US" altLang="en-US" smtClean="0"/>
              <a:pPr>
                <a:defRPr/>
              </a:pPr>
              <a:t>12</a:t>
            </a:fld>
            <a:endParaRPr lang="en-US" altLang="en-US"/>
          </a:p>
        </p:txBody>
      </p:sp>
      <p:pic>
        <p:nvPicPr>
          <p:cNvPr id="6" name="Picture 5" descr="A logo for a college of engineering&#10;&#10;AI-generated content may be incorrect.">
            <a:extLst>
              <a:ext uri="{FF2B5EF4-FFF2-40B4-BE49-F238E27FC236}">
                <a16:creationId xmlns="" xmlns:a16="http://schemas.microsoft.com/office/drawing/2014/main" id="{513E9703-AF6E-0769-91B5-9AEAE8E971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8600" y="228509"/>
            <a:ext cx="1028700" cy="838201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="" xmlns:a16="http://schemas.microsoft.com/office/drawing/2014/main" id="{077D5B4A-06A2-ADD2-F82F-36544EDB78B3}"/>
              </a:ext>
            </a:extLst>
          </p:cNvPr>
          <p:cNvSpPr txBox="1">
            <a:spLocks/>
          </p:cNvSpPr>
          <p:nvPr/>
        </p:nvSpPr>
        <p:spPr bwMode="auto">
          <a:xfrm>
            <a:off x="266700" y="228509"/>
            <a:ext cx="7391400" cy="639762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>
            <a:lvl1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4572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9144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3716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18288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defRPr/>
            </a:pPr>
            <a:r>
              <a:rPr lang="en-US" sz="2800" dirty="0"/>
              <a:t>PSO Mapping</a:t>
            </a:r>
            <a:endParaRPr lang="en-US" sz="2800" b="1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5362463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473E533E-0DD5-A360-F281-5DC2760251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2B3A5D7D-F6C5-A78D-F62F-354C4D4FBC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DEPARTMENT OF CSM PROJECT WORK PHASE-1 REVIEW-1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6BA293F4-01E4-CED3-6F7D-3E58458330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8696073-0439-0442-AC0F-3387FBE4863F}" type="slidenum">
              <a:rPr lang="en-US" altLang="en-US" smtClean="0"/>
              <a:pPr>
                <a:defRPr/>
              </a:pPr>
              <a:t>13</a:t>
            </a:fld>
            <a:endParaRPr lang="en-US" altLang="en-US"/>
          </a:p>
        </p:txBody>
      </p:sp>
      <p:pic>
        <p:nvPicPr>
          <p:cNvPr id="6" name="Picture 5" descr="A logo for a college of engineering&#10;&#10;AI-generated content may be incorrect.">
            <a:extLst>
              <a:ext uri="{FF2B5EF4-FFF2-40B4-BE49-F238E27FC236}">
                <a16:creationId xmlns="" xmlns:a16="http://schemas.microsoft.com/office/drawing/2014/main" id="{9E00E122-8F0F-712B-FBDB-D0ED9857FB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8600" y="228509"/>
            <a:ext cx="1028700" cy="838201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="" xmlns:a16="http://schemas.microsoft.com/office/drawing/2014/main" id="{535F1885-66A7-762A-D244-D3AA6EC8089E}"/>
              </a:ext>
            </a:extLst>
          </p:cNvPr>
          <p:cNvSpPr txBox="1">
            <a:spLocks/>
          </p:cNvSpPr>
          <p:nvPr/>
        </p:nvSpPr>
        <p:spPr bwMode="auto">
          <a:xfrm>
            <a:off x="266700" y="228509"/>
            <a:ext cx="7391400" cy="639762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>
            <a:lvl1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4572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9144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3716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18288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defRPr/>
            </a:pPr>
            <a:r>
              <a:rPr lang="en-US" sz="2800" dirty="0"/>
              <a:t>Timelines</a:t>
            </a:r>
          </a:p>
        </p:txBody>
      </p:sp>
      <p:pic>
        <p:nvPicPr>
          <p:cNvPr id="13" name="Content Placeholder 12" descr="ChatGPT Image Jul 21, 2026, 01_48_32 PM.png"/>
          <p:cNvPicPr>
            <a:picLocks noGrp="1" noChangeAspect="1"/>
          </p:cNvPicPr>
          <p:nvPr>
            <p:ph idx="1"/>
          </p:nvPr>
        </p:nvPicPr>
        <p:blipFill>
          <a:blip r:embed="rId3" cstate="print"/>
          <a:stretch>
            <a:fillRect/>
          </a:stretch>
        </p:blipFill>
        <p:spPr>
          <a:xfrm>
            <a:off x="543736" y="1428736"/>
            <a:ext cx="8039586" cy="4643470"/>
          </a:xfrm>
        </p:spPr>
      </p:pic>
      <p:sp>
        <p:nvSpPr>
          <p:cNvPr id="5122" name="AutoShape 2" descr="Generated image: Project timeline for robotics development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2631414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9208EADC-0EEE-2C9E-54E4-932A3E410B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74638"/>
            <a:ext cx="7391400" cy="639762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eaLnBrk="1" fontAlgn="auto" hangingPunct="1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defRPr/>
            </a:pPr>
            <a:r>
              <a:rPr lang="en-US" sz="2800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99ADADFF-64F2-DEE6-B50B-34126AF741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0500" y="1079083"/>
            <a:ext cx="8763000" cy="5562600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>
            <a:normAutofit fontScale="92500" lnSpcReduction="20000"/>
          </a:bodyPr>
          <a:lstStyle/>
          <a:p>
            <a:pPr>
              <a:lnSpc>
                <a:spcPct val="150000"/>
              </a:lnSpc>
              <a:buNone/>
            </a:pPr>
            <a:r>
              <a:rPr lang="en-US" sz="1400" dirty="0" smtClean="0"/>
              <a:t>[1] A. </a:t>
            </a:r>
            <a:r>
              <a:rPr lang="en-US" sz="1400" dirty="0" err="1" smtClean="0"/>
              <a:t>Brohan</a:t>
            </a:r>
            <a:r>
              <a:rPr lang="en-US" sz="1400" dirty="0" smtClean="0"/>
              <a:t> et al., "RT-2: Vision-Language-Action Models Transfer Web Knowledge to Robotic Control," in </a:t>
            </a:r>
            <a:r>
              <a:rPr lang="en-US" sz="1400" i="1" dirty="0" smtClean="0"/>
              <a:t>Proc. 7th Conf. on Robot Learning (</a:t>
            </a:r>
            <a:r>
              <a:rPr lang="en-US" sz="1400" i="1" dirty="0" err="1" smtClean="0"/>
              <a:t>CoRL</a:t>
            </a:r>
            <a:r>
              <a:rPr lang="en-US" sz="1400" i="1" dirty="0" smtClean="0"/>
              <a:t>)</a:t>
            </a:r>
            <a:r>
              <a:rPr lang="en-US" sz="1400" dirty="0" smtClean="0"/>
              <a:t>, 2023, pp. 2165–2183.</a:t>
            </a:r>
          </a:p>
          <a:p>
            <a:pPr>
              <a:lnSpc>
                <a:spcPct val="150000"/>
              </a:lnSpc>
              <a:buNone/>
            </a:pPr>
            <a:r>
              <a:rPr lang="en-US" sz="1400" dirty="0" smtClean="0"/>
              <a:t>[2] M. J. Kim et al., "</a:t>
            </a:r>
            <a:r>
              <a:rPr lang="en-US" sz="1400" dirty="0" err="1" smtClean="0"/>
              <a:t>OpenVLA</a:t>
            </a:r>
            <a:r>
              <a:rPr lang="en-US" sz="1400" dirty="0" smtClean="0"/>
              <a:t>: An Open-Source Vision-Language-Action Model," in </a:t>
            </a:r>
            <a:r>
              <a:rPr lang="en-US" sz="1400" i="1" dirty="0" smtClean="0"/>
              <a:t>Proc. 8th Conf. on Robot Learning (</a:t>
            </a:r>
            <a:r>
              <a:rPr lang="en-US" sz="1400" i="1" dirty="0" err="1" smtClean="0"/>
              <a:t>CoRL</a:t>
            </a:r>
            <a:r>
              <a:rPr lang="en-US" sz="1400" i="1" dirty="0" smtClean="0"/>
              <a:t>)</a:t>
            </a:r>
            <a:r>
              <a:rPr lang="en-US" sz="1400" dirty="0" smtClean="0"/>
              <a:t>, vol. 270, 2025, pp. 2679–2713.</a:t>
            </a:r>
          </a:p>
          <a:p>
            <a:pPr>
              <a:lnSpc>
                <a:spcPct val="150000"/>
              </a:lnSpc>
              <a:buNone/>
            </a:pPr>
            <a:r>
              <a:rPr lang="en-US" sz="1400" dirty="0" smtClean="0"/>
              <a:t>[3] A. O'Neill et al., "Open X-Embodiment: Robotic Learning Datasets and RT-X Models," in </a:t>
            </a:r>
            <a:r>
              <a:rPr lang="en-US" sz="1400" i="1" dirty="0" smtClean="0"/>
              <a:t>Proc. IEEE Int. Conf. on Robotics and Automation (ICRA)</a:t>
            </a:r>
            <a:r>
              <a:rPr lang="en-US" sz="1400" dirty="0" smtClean="0"/>
              <a:t>, Yokohama, Japan, 2024, pp. 6892–6903.</a:t>
            </a:r>
          </a:p>
          <a:p>
            <a:pPr>
              <a:lnSpc>
                <a:spcPct val="150000"/>
              </a:lnSpc>
              <a:buNone/>
            </a:pPr>
            <a:r>
              <a:rPr lang="en-US" sz="1400" dirty="0" smtClean="0"/>
              <a:t>[4] D. </a:t>
            </a:r>
            <a:r>
              <a:rPr lang="en-US" sz="1400" dirty="0" err="1" smtClean="0"/>
              <a:t>Guo</a:t>
            </a:r>
            <a:r>
              <a:rPr lang="en-US" sz="1400" dirty="0" smtClean="0"/>
              <a:t> et al., "What Matters in Building Vision-Language-Action Models for Generalist Robots," </a:t>
            </a:r>
            <a:r>
              <a:rPr lang="en-US" sz="1400" i="1" dirty="0" smtClean="0"/>
              <a:t>Nature Machine Intelligence</a:t>
            </a:r>
            <a:r>
              <a:rPr lang="en-US" sz="1400" dirty="0" smtClean="0"/>
              <a:t>, vol. 7, 2025.</a:t>
            </a:r>
          </a:p>
          <a:p>
            <a:pPr>
              <a:lnSpc>
                <a:spcPct val="150000"/>
              </a:lnSpc>
              <a:buNone/>
            </a:pPr>
            <a:r>
              <a:rPr lang="en-US" sz="1400" dirty="0" smtClean="0"/>
              <a:t>[5] F. Xia et al., "</a:t>
            </a:r>
            <a:r>
              <a:rPr lang="en-US" sz="1400" dirty="0" err="1" smtClean="0"/>
              <a:t>RoboCat</a:t>
            </a:r>
            <a:r>
              <a:rPr lang="en-US" sz="1400" dirty="0" smtClean="0"/>
              <a:t>: A Self-Improving Foundation Agent for Robotic Manipulation," </a:t>
            </a:r>
            <a:r>
              <a:rPr lang="en-US" sz="1400" i="1" dirty="0" smtClean="0"/>
              <a:t>Transactions on Machine Learning Research (TMLR)</a:t>
            </a:r>
            <a:r>
              <a:rPr lang="en-US" sz="1400" dirty="0" smtClean="0"/>
              <a:t>, 2024.</a:t>
            </a:r>
          </a:p>
          <a:p>
            <a:pPr>
              <a:lnSpc>
                <a:spcPct val="150000"/>
              </a:lnSpc>
              <a:buNone/>
            </a:pPr>
            <a:r>
              <a:rPr lang="en-US" sz="1400" dirty="0" smtClean="0"/>
              <a:t>[6] H. Liu, D. </a:t>
            </a:r>
            <a:r>
              <a:rPr lang="en-US" sz="1400" dirty="0" err="1" smtClean="0"/>
              <a:t>Guo</a:t>
            </a:r>
            <a:r>
              <a:rPr lang="en-US" sz="1400" dirty="0" smtClean="0"/>
              <a:t>, and A. </a:t>
            </a:r>
            <a:r>
              <a:rPr lang="en-US" sz="1400" dirty="0" err="1" smtClean="0"/>
              <a:t>Cangelosi</a:t>
            </a:r>
            <a:r>
              <a:rPr lang="en-US" sz="1400" dirty="0" smtClean="0"/>
              <a:t>, "Embodied Intelligence: A Synergy of Morphology, Action, Perception, and Learning," </a:t>
            </a:r>
            <a:r>
              <a:rPr lang="en-US" sz="1400" i="1" dirty="0" smtClean="0"/>
              <a:t>ACM Computing Surveys</a:t>
            </a:r>
            <a:r>
              <a:rPr lang="en-US" sz="1400" dirty="0" smtClean="0"/>
              <a:t>, vol. 57, no. 1, pp. 1–36, 2025.</a:t>
            </a:r>
          </a:p>
          <a:p>
            <a:pPr>
              <a:lnSpc>
                <a:spcPct val="150000"/>
              </a:lnSpc>
              <a:buNone/>
            </a:pPr>
            <a:r>
              <a:rPr lang="en-US" sz="1400" dirty="0" smtClean="0"/>
              <a:t>[7] H. Liu, Y. Zhu, K. Kato, A. </a:t>
            </a:r>
            <a:r>
              <a:rPr lang="en-US" sz="1400" dirty="0" err="1" smtClean="0"/>
              <a:t>Tsukahara</a:t>
            </a:r>
            <a:r>
              <a:rPr lang="en-US" sz="1400" dirty="0" smtClean="0"/>
              <a:t>, I. Kondo, and Y. Hasegawa, "Enhancing the LLM-Based Robot Manipulation Through Human–Robot Collaboration," </a:t>
            </a:r>
            <a:r>
              <a:rPr lang="en-US" sz="1400" i="1" dirty="0" smtClean="0"/>
              <a:t>IEEE Robotics and Automation Letters</a:t>
            </a:r>
            <a:r>
              <a:rPr lang="en-US" sz="1400" dirty="0" smtClean="0"/>
              <a:t>, vol. 9, pp. 6904–6911, 2024.</a:t>
            </a:r>
          </a:p>
          <a:p>
            <a:pPr>
              <a:lnSpc>
                <a:spcPct val="150000"/>
              </a:lnSpc>
              <a:buNone/>
            </a:pPr>
            <a:r>
              <a:rPr lang="en-US" sz="1400" dirty="0" smtClean="0"/>
              <a:t>[8] J. Fan and P. </a:t>
            </a:r>
            <a:r>
              <a:rPr lang="en-US" sz="1400" dirty="0" err="1" smtClean="0"/>
              <a:t>Zheng</a:t>
            </a:r>
            <a:r>
              <a:rPr lang="en-US" sz="1400" dirty="0" smtClean="0"/>
              <a:t>, "A Vision-Language-Guided Robotic Action Planning Approach for Ambiguity Mitigation in Human–Robot Collaborative Manufacturing," </a:t>
            </a:r>
            <a:r>
              <a:rPr lang="en-US" sz="1400" i="1" dirty="0" smtClean="0"/>
              <a:t>Journal of Manufacturing Systems</a:t>
            </a:r>
            <a:r>
              <a:rPr lang="en-US" sz="1400" dirty="0" smtClean="0"/>
              <a:t>, vol. 74, pp. 1009–1018, 2024.</a:t>
            </a:r>
          </a:p>
          <a:p>
            <a:pPr>
              <a:lnSpc>
                <a:spcPct val="150000"/>
              </a:lnSpc>
              <a:buNone/>
            </a:pPr>
            <a:r>
              <a:rPr lang="en-US" sz="1400" dirty="0" smtClean="0"/>
              <a:t>[9] J. Fan, Y. Yin, T. Wang, W. Dong, P. </a:t>
            </a:r>
            <a:r>
              <a:rPr lang="en-US" sz="1400" dirty="0" err="1" smtClean="0"/>
              <a:t>Zheng</a:t>
            </a:r>
            <a:r>
              <a:rPr lang="en-US" sz="1400" dirty="0" smtClean="0"/>
              <a:t>, and L. Wang, "Vision-Language Model-Based Human-Robot Collaboration for Smart Manufacturing: A State-of-the-Art Survey," </a:t>
            </a:r>
            <a:r>
              <a:rPr lang="en-US" sz="1400" i="1" dirty="0" smtClean="0"/>
              <a:t>Frontiers of Engineering Management</a:t>
            </a:r>
            <a:r>
              <a:rPr lang="en-US" sz="1400" dirty="0" smtClean="0"/>
              <a:t>, vol. 12, no. 1, pp. 177–200, 2025.</a:t>
            </a:r>
          </a:p>
          <a:p>
            <a:pPr>
              <a:lnSpc>
                <a:spcPct val="150000"/>
              </a:lnSpc>
              <a:buNone/>
            </a:pPr>
            <a:endParaRPr lang="en-US" sz="1400" dirty="0"/>
          </a:p>
        </p:txBody>
      </p:sp>
      <p:sp>
        <p:nvSpPr>
          <p:cNvPr id="13317" name="Slide Number Placeholder 4">
            <a:extLst>
              <a:ext uri="{FF2B5EF4-FFF2-40B4-BE49-F238E27FC236}">
                <a16:creationId xmlns="" xmlns:a16="http://schemas.microsoft.com/office/drawing/2014/main" id="{FBA1A201-6B40-AEAA-8085-8F1407368D5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E98BD84-CE13-3A4E-A584-364A90364486}" type="slidenum">
              <a:rPr lang="en-US" altLang="en-US" smtClean="0">
                <a:solidFill>
                  <a:srgbClr val="898989"/>
                </a:solidFill>
                <a:cs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14</a:t>
            </a:fld>
            <a:endParaRPr lang="en-US" altLang="en-US">
              <a:solidFill>
                <a:srgbClr val="898989"/>
              </a:solidFill>
              <a:cs typeface="Arial" panose="020B0604020202020204" pitchFamily="34" charset="0"/>
            </a:endParaRPr>
          </a:p>
        </p:txBody>
      </p:sp>
      <p:pic>
        <p:nvPicPr>
          <p:cNvPr id="4" name="Picture 3" descr="A logo for a college of engineering&#10;&#10;AI-generated content may be incorrect.">
            <a:extLst>
              <a:ext uri="{FF2B5EF4-FFF2-40B4-BE49-F238E27FC236}">
                <a16:creationId xmlns="" xmlns:a16="http://schemas.microsoft.com/office/drawing/2014/main" id="{E8E88272-2B89-6031-D5F8-A9954AF89B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8600" y="228509"/>
            <a:ext cx="1028700" cy="838201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BC7F8696-E0F4-FAFD-8102-1BA6CD315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DEPARTMENT OF CSM PROJECT WORK PHASE-1 REVIEW-1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03FDC9B6-3374-E414-8750-71C1ABAF45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066800"/>
            <a:ext cx="8763000" cy="5562600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marL="514350" indent="-514350"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sz="3600" b="1" dirty="0"/>
          </a:p>
          <a:p>
            <a:pPr marL="514350" indent="-514350"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sz="2800" b="1" dirty="0"/>
          </a:p>
          <a:p>
            <a:pPr marL="514350" indent="-514350"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sz="2800" b="1" dirty="0"/>
          </a:p>
          <a:p>
            <a:pPr marL="514350" indent="-514350" algn="ctr"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b="1" dirty="0"/>
          </a:p>
          <a:p>
            <a:pPr marL="514350" indent="-514350"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sz="2800" b="1" dirty="0"/>
          </a:p>
        </p:txBody>
      </p:sp>
      <p:sp>
        <p:nvSpPr>
          <p:cNvPr id="14340" name="Slide Number Placeholder 4">
            <a:extLst>
              <a:ext uri="{FF2B5EF4-FFF2-40B4-BE49-F238E27FC236}">
                <a16:creationId xmlns="" xmlns:a16="http://schemas.microsoft.com/office/drawing/2014/main" id="{54B673C1-BF9C-DA33-8364-E63F71F4ADF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ABEDEFEE-79E3-4247-B13F-BA9161CED57F}" type="slidenum">
              <a:rPr lang="en-US" altLang="en-US" smtClean="0">
                <a:solidFill>
                  <a:srgbClr val="898989"/>
                </a:solidFill>
                <a:cs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15</a:t>
            </a:fld>
            <a:endParaRPr lang="en-US" altLang="en-US">
              <a:solidFill>
                <a:srgbClr val="898989"/>
              </a:solidFill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7800" y="1752600"/>
            <a:ext cx="6330013" cy="3566814"/>
          </a:xfrm>
          <a:prstGeom prst="rect">
            <a:avLst/>
          </a:prstGeom>
        </p:spPr>
      </p:pic>
      <p:pic>
        <p:nvPicPr>
          <p:cNvPr id="4" name="Picture 3" descr="A logo for a college of engineering&#10;&#10;AI-generated content may be incorrect.">
            <a:extLst>
              <a:ext uri="{FF2B5EF4-FFF2-40B4-BE49-F238E27FC236}">
                <a16:creationId xmlns="" xmlns:a16="http://schemas.microsoft.com/office/drawing/2014/main" id="{90080CEA-4FCC-B49B-15DF-FFC6382BF3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57650" y="190279"/>
            <a:ext cx="1028700" cy="838201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AFDB32B7-1760-A489-AEC3-6C0024C68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DEPARTMENT OF CSM PROJECT WORK PHASE-1 REVIEW-1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3807</TotalTime>
  <Words>2077</Words>
  <Application>Microsoft Office PowerPoint</Application>
  <PresentationFormat>On-screen Show (4:3)</PresentationFormat>
  <Paragraphs>257</Paragraphs>
  <Slides>15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    VARDHAMAN COLLEGE OF ENGINEERING, HYDERABAD Autonomous institute affiliated to JNTUH  DEPARTMENT OF CSE(AI&amp;ML) IV-Year Major Project Abstract Level Review</vt:lpstr>
      <vt:lpstr>Outlines</vt:lpstr>
      <vt:lpstr>Abstract</vt:lpstr>
      <vt:lpstr>Introduction</vt:lpstr>
      <vt:lpstr>Existing System </vt:lpstr>
      <vt:lpstr>Pros and Cons of Existing System</vt:lpstr>
      <vt:lpstr>Problem Statement</vt:lpstr>
      <vt:lpstr>Slide 8</vt:lpstr>
      <vt:lpstr>Objectives &amp; Deliverables Proposed System</vt:lpstr>
      <vt:lpstr>Slide 10</vt:lpstr>
      <vt:lpstr>Slide 11</vt:lpstr>
      <vt:lpstr>Slide 12</vt:lpstr>
      <vt:lpstr>Slide 13</vt:lpstr>
      <vt:lpstr>References</vt:lpstr>
      <vt:lpstr>Slide 15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Software Engineering</dc:title>
  <dc:creator>Venu Gopal Sakkera</dc:creator>
  <cp:lastModifiedBy>Aryan Hanumakonda</cp:lastModifiedBy>
  <cp:revision>220</cp:revision>
  <dcterms:created xsi:type="dcterms:W3CDTF">2006-08-16T00:00:00Z</dcterms:created>
  <dcterms:modified xsi:type="dcterms:W3CDTF">2026-07-21T08:26:41Z</dcterms:modified>
</cp:coreProperties>
</file>